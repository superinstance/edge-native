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412974"/>
            <a:ext cx="9906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600" spc="4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INTELLIGENCE PLATFORM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032099"/>
            <a:ext cx="9906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2727424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Post-Coding Age of Industrial Robotics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949625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writes, reads, or debugs 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3425726"/>
            <a:ext cx="7620000" cy="304800"/>
          </a:xfrm>
          <a:prstGeom prst="roundRect">
            <a:avLst>
              <a:gd name="adj" fmla="val 16667"/>
            </a:avLst>
          </a:prstGeom>
          <a:solidFill>
            <a:srgbClr val="37DCF2">
              <a:alpha val="10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9226" y="3511451"/>
            <a:ext cx="7390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SPECIFICATION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NEXUS?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50727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304627"/>
            <a:ext cx="3937099" cy="974527"/>
          </a:xfrm>
          <a:prstGeom prst="roundRect">
            <a:avLst>
              <a:gd name="adj" fmla="val 78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20626" y="1491853"/>
            <a:ext cx="45652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BOTTLENECK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20626" y="1710928"/>
            <a:ext cx="3581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robot requires custom firmware. Engineers write, debug, and maintain thousands of lines of embedded code per deployment.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7950" y="2406104"/>
            <a:ext cx="3937099" cy="974527"/>
          </a:xfrm>
          <a:prstGeom prst="roundRect">
            <a:avLst>
              <a:gd name="adj" fmla="val 78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20626" y="2593330"/>
            <a:ext cx="45652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SILOS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20626" y="2812405"/>
            <a:ext cx="3581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autopilots, HVAC systems, and factory robots each need specialized teams. No unified framework bridges them.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7950" y="3507581"/>
            <a:ext cx="3937099" cy="974527"/>
          </a:xfrm>
          <a:prstGeom prst="roundRect">
            <a:avLst>
              <a:gd name="adj" fmla="val 78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20626" y="3694807"/>
            <a:ext cx="45652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DEFICIT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0626" y="3913882"/>
            <a:ext cx="3581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cannot verify AI-generated code. Without progressive trust-building, full autonomy remains impossible.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98950" y="1304627"/>
            <a:ext cx="3937099" cy="717352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18000" y="1304627"/>
            <a:ext cx="0" cy="717352"/>
          </a:xfrm>
          <a:prstGeom prst="line">
            <a:avLst/>
          </a:prstGeom>
          <a:noFill/>
          <a:ln w="38100">
            <a:solidFill>
              <a:srgbClr val="37D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4751" y="1431578"/>
            <a:ext cx="46066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19,200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914751" y="1780729"/>
            <a:ext cx="3614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SPEC PER DEPLOYMENT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98950" y="2148929"/>
            <a:ext cx="3937099" cy="717352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18000" y="2148929"/>
            <a:ext cx="0" cy="717352"/>
          </a:xfrm>
          <a:prstGeom prst="line">
            <a:avLst/>
          </a:prstGeom>
          <a:noFill/>
          <a:ln w="38100">
            <a:solidFill>
              <a:srgbClr val="37DC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4751" y="2275880"/>
            <a:ext cx="46066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12-16 wk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914751" y="2625030"/>
            <a:ext cx="3614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BUILD TIME (3 ENGINEERS)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98950" y="2993231"/>
            <a:ext cx="3937099" cy="717352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18000" y="2993231"/>
            <a:ext cx="0" cy="717352"/>
          </a:xfrm>
          <a:prstGeom prst="line">
            <a:avLst/>
          </a:prstGeom>
          <a:noFill/>
          <a:ln w="38100">
            <a:solidFill>
              <a:srgbClr val="37DC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4751" y="3120182"/>
            <a:ext cx="46066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914751" y="3469332"/>
            <a:ext cx="3614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TYPES IN WIRE PROTOCOL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698950" y="3837533"/>
            <a:ext cx="3937099" cy="717352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18000" y="3837533"/>
            <a:ext cx="0" cy="717352"/>
          </a:xfrm>
          <a:prstGeom prst="line">
            <a:avLst/>
          </a:prstGeom>
          <a:noFill/>
          <a:ln w="38100">
            <a:solidFill>
              <a:srgbClr val="37DC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14751" y="3964484"/>
            <a:ext cx="46066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914751" y="4313634"/>
            <a:ext cx="3614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CODES DEFINED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Post-Coding Age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3046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12279" y="137279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251" y="1279327"/>
            <a:ext cx="37822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Hardware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251" y="1447502"/>
            <a:ext cx="296763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connect sensors and actuators. The only manual task.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7950" y="171658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2279" y="178474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251" y="1691283"/>
            <a:ext cx="32863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Intent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251" y="1859459"/>
            <a:ext cx="257855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system in natural language what should happen.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7950" y="212854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12279" y="219670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251" y="2103239"/>
            <a:ext cx="3121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Behavior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251" y="2271415"/>
            <a:ext cx="244952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the action. The system records and narrates.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07950" y="254049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2279" y="260865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4251" y="2515195"/>
            <a:ext cx="2846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251" y="2683371"/>
            <a:ext cx="223319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AI proposals in plain language, not code.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8978" y="1279327"/>
            <a:ext cx="3477071" cy="1894582"/>
          </a:xfrm>
          <a:prstGeom prst="roundRect">
            <a:avLst>
              <a:gd name="adj" fmla="val 5363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71654" y="1492002"/>
            <a:ext cx="3967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LOOP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71654" y="1771352"/>
            <a:ext cx="311275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 action + sensor data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371654" y="2009329"/>
            <a:ext cx="311275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patterns via 5 analysis algorithms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371654" y="2247305"/>
            <a:ext cx="311275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reflex bytecode proposals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371654" y="2485281"/>
            <a:ext cx="311275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A/B testing vs human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371654" y="2723257"/>
            <a:ext cx="311275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earn trust incrementally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System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253877"/>
            <a:ext cx="1218902" cy="596205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01452" y="1425029"/>
            <a:ext cx="561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61876" y="1583680"/>
            <a:ext cx="3172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726853" y="1253877"/>
            <a:ext cx="6909197" cy="59620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726853" y="1258639"/>
            <a:ext cx="69091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31287" y="1253877"/>
            <a:ext cx="0" cy="596205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6853" y="1845320"/>
            <a:ext cx="69091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04554" y="1390352"/>
            <a:ext cx="683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Reasoning (Optional)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04554" y="1571327"/>
            <a:ext cx="53596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simulation, fleet management, complex reflex generation via Starlink/5G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340498" y="1421904"/>
            <a:ext cx="11083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to hours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40498" y="1561505"/>
            <a:ext cx="11083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suggest, not command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07950" y="1951583"/>
            <a:ext cx="1218902" cy="596205"/>
          </a:xfrm>
          <a:prstGeom prst="rect">
            <a:avLst/>
          </a:prstGeom>
          <a:solidFill>
            <a:srgbClr val="37DCF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01452" y="2122736"/>
            <a:ext cx="561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73026" y="2281386"/>
            <a:ext cx="4985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726853" y="1951583"/>
            <a:ext cx="6909197" cy="59620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1726853" y="1956346"/>
            <a:ext cx="69091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31287" y="1951583"/>
            <a:ext cx="0" cy="596205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26853" y="2543026"/>
            <a:ext cx="69091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04554" y="2088059"/>
            <a:ext cx="71305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Orin Nano Cluster (3+ nodes)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904554" y="2269034"/>
            <a:ext cx="55947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inference, NLP chat, pattern discovery, reflex compilation, MQTT telemetry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575643" y="2119610"/>
            <a:ext cx="8731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10-500 ms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575643" y="2259211"/>
            <a:ext cx="873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TOPS INT8 / 8 GB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07950" y="2649289"/>
            <a:ext cx="1218902" cy="596205"/>
          </a:xfrm>
          <a:prstGeom prst="rect">
            <a:avLst/>
          </a:prstGeom>
          <a:solidFill>
            <a:srgbClr val="37DCF2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901452" y="2820442"/>
            <a:ext cx="561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44463" y="2979093"/>
            <a:ext cx="352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726853" y="2649289"/>
            <a:ext cx="6909197" cy="59620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1726853" y="2654052"/>
            <a:ext cx="69091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631287" y="2649289"/>
            <a:ext cx="0" cy="596205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726853" y="3240732"/>
            <a:ext cx="69091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904554" y="2785765"/>
            <a:ext cx="69655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Universal Limb Nodes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904554" y="2966740"/>
            <a:ext cx="546527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sensor polling, bytecode VM execution, safety enforcement at 1 kHz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446154" y="2817316"/>
            <a:ext cx="1002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us - 1 ms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46154" y="2956917"/>
            <a:ext cx="10026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override: absolute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26669" y="3397746"/>
            <a:ext cx="8290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tier operates independently. Tier 1 maintains control even when all higher tiers fail.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BACKBONE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Protocol + Bytecode VM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253877"/>
            <a:ext cx="51511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RS-422 WIRE PROTOCOL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7950" y="1472952"/>
            <a:ext cx="3962400" cy="241102"/>
          </a:xfrm>
          <a:prstGeom prst="roundRect">
            <a:avLst>
              <a:gd name="adj" fmla="val 15802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451" y="1536353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090654" y="1536353"/>
            <a:ext cx="1278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COBS + CRC-16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7950" y="1752154"/>
            <a:ext cx="3962400" cy="241102"/>
          </a:xfrm>
          <a:prstGeom prst="roundRect">
            <a:avLst>
              <a:gd name="adj" fmla="val 15802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9451" y="1815554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Baud Rate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090654" y="1815554"/>
            <a:ext cx="1278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921,600 bps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7950" y="2031355"/>
            <a:ext cx="3962400" cy="241102"/>
          </a:xfrm>
          <a:prstGeom prst="roundRect">
            <a:avLst>
              <a:gd name="adj" fmla="val 15802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9451" y="2094756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Types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090654" y="2094756"/>
            <a:ext cx="1278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defined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7950" y="2310557"/>
            <a:ext cx="3962400" cy="241102"/>
          </a:xfrm>
          <a:prstGeom prst="roundRect">
            <a:avLst>
              <a:gd name="adj" fmla="val 15802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9451" y="2373957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Size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090654" y="2373957"/>
            <a:ext cx="1278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bytes fixed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7950" y="2589758"/>
            <a:ext cx="3962400" cy="241102"/>
          </a:xfrm>
          <a:prstGeom prst="roundRect">
            <a:avLst>
              <a:gd name="adj" fmla="val 15802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09451" y="2653159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090654" y="2653159"/>
            <a:ext cx="1278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across 6 categories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7950" y="2868960"/>
            <a:ext cx="3962400" cy="241102"/>
          </a:xfrm>
          <a:prstGeom prst="roundRect">
            <a:avLst>
              <a:gd name="adj" fmla="val 15802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09451" y="2932361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Logic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090654" y="2932361"/>
            <a:ext cx="1278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exponential backoff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7950" y="3148161"/>
            <a:ext cx="3962400" cy="241102"/>
          </a:xfrm>
          <a:prstGeom prst="roundRect">
            <a:avLst>
              <a:gd name="adj" fmla="val 15802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09451" y="3211562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Escalation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090654" y="3211562"/>
            <a:ext cx="1278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4-state model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7950" y="3427363"/>
            <a:ext cx="3962400" cy="241102"/>
          </a:xfrm>
          <a:prstGeom prst="roundRect">
            <a:avLst>
              <a:gd name="adj" fmla="val 15802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09451" y="3490764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Payload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090654" y="3490764"/>
            <a:ext cx="1278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MB (obs buffer)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73501" y="1253877"/>
            <a:ext cx="3962549" cy="1213247"/>
          </a:xfrm>
          <a:prstGeom prst="roundRect">
            <a:avLst>
              <a:gd name="adj" fmla="val 6281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35426" y="1415802"/>
            <a:ext cx="47303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 Bytecode VM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35426" y="1634877"/>
            <a:ext cx="371147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opcodes</a:t>
            </a:r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10 categories: stack, arithmetic, comparison, logic, I/O, control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35426" y="1802457"/>
            <a:ext cx="371147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instruction: </a:t>
            </a:r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bytes</a:t>
            </a:r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fixed (opcode + flags + operands)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35426" y="1970038"/>
            <a:ext cx="371147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footprint: </a:t>
            </a:r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KB</a:t>
            </a:r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(fits entirely in SRAM)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835426" y="2137618"/>
            <a:ext cx="371147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Execution: </a:t>
            </a:r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 us</a:t>
            </a:r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tick (10x faster than JSON)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73501" y="2568625"/>
            <a:ext cx="5151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vs JSON INTERPRETATION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673501" y="2787700"/>
            <a:ext cx="26945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timing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288783" y="2787700"/>
            <a:ext cx="13472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vs No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673501" y="2943225"/>
            <a:ext cx="26945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model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288783" y="2943225"/>
            <a:ext cx="13472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vs Dynamic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673501" y="3098750"/>
            <a:ext cx="26945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allocation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288783" y="3098750"/>
            <a:ext cx="13472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vs Required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673501" y="3254276"/>
            <a:ext cx="26945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7288783" y="3254276"/>
            <a:ext cx="13472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pass vs Hard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673501" y="3409801"/>
            <a:ext cx="26945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boundary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288783" y="3409801"/>
            <a:ext cx="13472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sandbox vs Injection risk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Four-Tier Safety System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228576"/>
            <a:ext cx="863501" cy="564952"/>
          </a:xfrm>
          <a:prstGeom prst="roundRect">
            <a:avLst>
              <a:gd name="adj" fmla="val 13488"/>
            </a:avLst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76002" y="1330077"/>
            <a:ext cx="1654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5198" y="1596777"/>
            <a:ext cx="6211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spc="5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498402" y="1228576"/>
            <a:ext cx="7137648" cy="564952"/>
          </a:xfrm>
          <a:prstGeom prst="roundRect">
            <a:avLst>
              <a:gd name="adj" fmla="val 13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60327" y="1339602"/>
            <a:ext cx="5905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Control Layer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60327" y="1511052"/>
            <a:ext cx="46333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loops, reflex execution, AI inference. Lowest authority. Cannot disable safety.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138368" y="1441252"/>
            <a:ext cx="3424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 ms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7950" y="1869728"/>
            <a:ext cx="863501" cy="564952"/>
          </a:xfrm>
          <a:prstGeom prst="roundRect">
            <a:avLst>
              <a:gd name="adj" fmla="val 13488"/>
            </a:avLst>
          </a:prstGeom>
          <a:solidFill>
            <a:srgbClr val="37DCF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76002" y="1971229"/>
            <a:ext cx="1654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8409" y="2237929"/>
            <a:ext cx="6758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spc="5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1498402" y="1869728"/>
            <a:ext cx="7137648" cy="564952"/>
          </a:xfrm>
          <a:prstGeom prst="roundRect">
            <a:avLst>
              <a:gd name="adj" fmla="val 13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60327" y="1980754"/>
            <a:ext cx="5905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Watchdog Task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60327" y="2152204"/>
            <a:ext cx="46333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Highest-priority FreeRTOS task. Heartbeat monitoring, task watchdog, heap leak detection.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081962" y="2082403"/>
            <a:ext cx="400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 ms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7950" y="2510879"/>
            <a:ext cx="863501" cy="564952"/>
          </a:xfrm>
          <a:prstGeom prst="roundRect">
            <a:avLst>
              <a:gd name="adj" fmla="val 13488"/>
            </a:avLst>
          </a:prstGeom>
          <a:solidFill>
            <a:srgbClr val="37DCF2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76002" y="2612380"/>
            <a:ext cx="1654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91307" y="2879080"/>
            <a:ext cx="506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spc="5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498402" y="2510879"/>
            <a:ext cx="7137648" cy="564952"/>
          </a:xfrm>
          <a:prstGeom prst="roundRect">
            <a:avLst>
              <a:gd name="adj" fmla="val 13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660327" y="2621905"/>
            <a:ext cx="5905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Safety Guard (ISR)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660327" y="2793355"/>
            <a:ext cx="46333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 ISR, overcurrent detection, stale sensor detection. All ISR code in IRAM.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138368" y="2723555"/>
            <a:ext cx="3424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 ms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7950" y="3152031"/>
            <a:ext cx="882551" cy="584002"/>
          </a:xfrm>
          <a:prstGeom prst="roundRect">
            <a:avLst>
              <a:gd name="adj" fmla="val 13048"/>
            </a:avLst>
          </a:prstGeom>
          <a:solidFill>
            <a:srgbClr val="FF5050">
              <a:alpha val="20000"/>
            </a:srgbClr>
          </a:solidFill>
          <a:ln w="9525">
            <a:solidFill>
              <a:srgbClr val="FF5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85527" y="3263057"/>
            <a:ext cx="1654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84758" y="3529757"/>
            <a:ext cx="5393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spc="5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452" y="3152031"/>
            <a:ext cx="7118598" cy="584002"/>
          </a:xfrm>
          <a:prstGeom prst="roundRect">
            <a:avLst>
              <a:gd name="adj" fmla="val 1304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679377" y="3263057"/>
            <a:ext cx="58888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Hardware Interlock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679377" y="3434507"/>
            <a:ext cx="46204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mushroom kill switch, MAX6818 watchdog IC, PTC polyfuses, flyback diodes.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8194774" y="3313956"/>
            <a:ext cx="2849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 ms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000107" y="3453557"/>
            <a:ext cx="4834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07950" y="3888432"/>
            <a:ext cx="8128099" cy="485477"/>
          </a:xfrm>
          <a:prstGeom prst="roundRect">
            <a:avLst>
              <a:gd name="adj" fmla="val 1569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5793" y="3999458"/>
            <a:ext cx="19771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61508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74320" y="4129534"/>
            <a:ext cx="27800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 1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614129" y="3999458"/>
            <a:ext cx="19772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26262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274320" y="4129534"/>
            <a:ext cx="6656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ASIL-B equiv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52617" y="3999458"/>
            <a:ext cx="19771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13850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212657" y="4129534"/>
            <a:ext cx="6657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E-Stop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490953" y="3999458"/>
            <a:ext cx="19772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60945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6089481" y="4129534"/>
            <a:ext cx="27801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FRAMEWORK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INCREMENTS: Trust-Based Scaling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26816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747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3973" y="1325314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38051" y="1253877"/>
            <a:ext cx="4821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38051" y="1387227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human control. System monitors and records only.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532983" y="1334839"/>
            <a:ext cx="6995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state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07950" y="157609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772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3973" y="163324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38051" y="1561802"/>
            <a:ext cx="4821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8051" y="1695152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suggests actions. Human approves every action.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983" y="1642765"/>
            <a:ext cx="6995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&gt; 0.3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07950" y="188401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79C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3973" y="194116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38051" y="1869728"/>
            <a:ext cx="4821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SEMI-AUTO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8051" y="2003078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reflexes execute. Human can override anytime.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32983" y="1950690"/>
            <a:ext cx="6995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&gt; 0.5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07950" y="219194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7B5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93973" y="224909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8051" y="2177653"/>
            <a:ext cx="4821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8051" y="2311003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in defined conditions. Human monitors.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532983" y="2258616"/>
            <a:ext cx="6995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&gt; 0.7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07950" y="24998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7C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93973" y="2557016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8051" y="2485579"/>
            <a:ext cx="4821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8051" y="2618929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in most conditions. Human available.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532983" y="2566541"/>
            <a:ext cx="6995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&gt; 0.85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07950" y="280779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93973" y="286494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38051" y="2793504"/>
            <a:ext cx="4821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38051" y="2926854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in all conditions. Human is optional.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532983" y="2874466"/>
            <a:ext cx="6995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&gt; 0.95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486400" y="1253877"/>
            <a:ext cx="3149650" cy="1084064"/>
          </a:xfrm>
          <a:prstGeom prst="roundRect">
            <a:avLst>
              <a:gd name="adj" fmla="val 7029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648325" y="1415802"/>
            <a:ext cx="36735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FORMULA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648325" y="1634877"/>
            <a:ext cx="28823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Gain:</a:t>
            </a:r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alpha = 0.002 per good evaluation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48325" y="1815257"/>
            <a:ext cx="28823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</a:t>
            </a:r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alpha = 0.05 per bad evaluation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648325" y="1995636"/>
            <a:ext cx="28823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Ratio:</a:t>
            </a:r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25:1 loss-to-gain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486400" y="2515642"/>
            <a:ext cx="3149650" cy="412552"/>
          </a:xfrm>
          <a:prstGeom prst="roundRect">
            <a:avLst>
              <a:gd name="adj" fmla="val 12314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613350" y="2617143"/>
            <a:ext cx="29536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0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T(t+1) = T(t) + 0.002*(1 - T(t))  [good]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613350" y="2721918"/>
            <a:ext cx="29536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0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T(t+1) = T(t) - 0.05*T(t)        [bad]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5486400" y="2928193"/>
            <a:ext cx="3149650" cy="1084064"/>
          </a:xfrm>
          <a:prstGeom prst="roundRect">
            <a:avLst>
              <a:gd name="adj" fmla="val 7029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648325" y="3090118"/>
            <a:ext cx="36735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ADVANCEMENT TIMELINE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648325" y="3309193"/>
            <a:ext cx="28823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3:</a:t>
            </a:r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~120 days flawless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648325" y="3489573"/>
            <a:ext cx="28823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5:</a:t>
            </a:r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~300 days flawless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648325" y="3669953"/>
            <a:ext cx="28823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Per-subsystem independence allows asymmetric trust.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486400" y="4215259"/>
            <a:ext cx="3149650" cy="469702"/>
          </a:xfrm>
          <a:prstGeom prst="rect">
            <a:avLst/>
          </a:prstGeom>
          <a:solidFill>
            <a:srgbClr val="FF5050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6"/>
          <p:cNvSpPr/>
          <p:nvPr/>
        </p:nvSpPr>
        <p:spPr>
          <a:xfrm>
            <a:off x="5495925" y="4215259"/>
            <a:ext cx="0" cy="469702"/>
          </a:xfrm>
          <a:prstGeom prst="line">
            <a:avLst/>
          </a:prstGeom>
          <a:noFill/>
          <a:ln w="19050">
            <a:solidFill>
              <a:srgbClr val="FF505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632400" y="4316760"/>
            <a:ext cx="29342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bad event erases ~25 good events. Prevents premature autonomy.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+ Pattern Discovery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253877"/>
            <a:ext cx="51511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DISCOVERY ALGORITHMS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7950" y="1498253"/>
            <a:ext cx="3962400" cy="504527"/>
          </a:xfrm>
          <a:prstGeom prst="roundRect">
            <a:avLst>
              <a:gd name="adj" fmla="val 151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1609279"/>
            <a:ext cx="4796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Cross-Correlation Scanner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426" y="1767929"/>
            <a:ext cx="37632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2,556 sensor-actuator pairs, -60s to +60s lags, Bonferroni correction. ~8s per hour.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07950" y="2078980"/>
            <a:ext cx="3962400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4426" y="2190006"/>
            <a:ext cx="4796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Bayesian Change-Point (BOCPD)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4426" y="2348657"/>
            <a:ext cx="37632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Adams-MacKay algorithm detects abrupt shifts. Normal-Inverse-Gamma conjugate priors.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7950" y="2783532"/>
            <a:ext cx="3962400" cy="504527"/>
          </a:xfrm>
          <a:prstGeom prst="roundRect">
            <a:avLst>
              <a:gd name="adj" fmla="val 151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44426" y="2894558"/>
            <a:ext cx="4796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Behavioral Clustering (HDBSCAN)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4426" y="3053209"/>
            <a:ext cx="37632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10s windows into modes: cruising, docking, rough-weather. 40 features + PCA.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7950" y="3364260"/>
            <a:ext cx="3962400" cy="504527"/>
          </a:xfrm>
          <a:prstGeom prst="roundRect">
            <a:avLst>
              <a:gd name="adj" fmla="val 151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4426" y="3475286"/>
            <a:ext cx="4796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Temporal Pattern Mining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4426" y="3633936"/>
            <a:ext cx="37632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DTW clustering of event-response sequences. Reports rules with &gt;60% consistency.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7950" y="3944987"/>
            <a:ext cx="3962400" cy="504527"/>
          </a:xfrm>
          <a:prstGeom prst="roundRect">
            <a:avLst>
              <a:gd name="adj" fmla="val 151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4426" y="4056013"/>
            <a:ext cx="4796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Bayesian Reward Inference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4426" y="4214664"/>
            <a:ext cx="37632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Infers scalar reward from 6 features. MAP estimation seeded by human narration.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673501" y="1253877"/>
            <a:ext cx="5151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STACK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73501" y="153635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51202" y="1498253"/>
            <a:ext cx="2233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Qwen2.5-Coder-7B (Q4_K_M)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51202" y="1644253"/>
            <a:ext cx="17525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generation, ~4 GB VRAM, 12 tok/s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673501" y="185692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51202" y="1818829"/>
            <a:ext cx="20442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Phi-3-mini-4K (Q4)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51202" y="1964829"/>
            <a:ext cx="16039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classification, ~2 GB, 40+ tok/s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673501" y="217750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51202" y="2139404"/>
            <a:ext cx="22853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/ Claude (Cloud)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51202" y="2285405"/>
            <a:ext cx="17931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validation, separate from code gen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673501" y="249808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851202" y="2459980"/>
            <a:ext cx="1725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Whisper-small.en (FP16)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51202" y="2605980"/>
            <a:ext cx="1354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speech-to-text, real-time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673501" y="281865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51202" y="2780556"/>
            <a:ext cx="1665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51202" y="2926556"/>
            <a:ext cx="13068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text-to-speech, real-time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673501" y="3202632"/>
            <a:ext cx="3962549" cy="717203"/>
          </a:xfrm>
          <a:prstGeom prst="roundRect">
            <a:avLst>
              <a:gd name="adj" fmla="val 10625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835426" y="3339108"/>
            <a:ext cx="47303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DATA MODEL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835426" y="3523208"/>
            <a:ext cx="37114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fields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timestamp: GPS, IMU, wind, throttle, perception, health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835426" y="3653284"/>
            <a:ext cx="37114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Hz sampling =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MB/min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3-tier retention (hot/warm/cold)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VERSATILITY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Applicability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279327"/>
            <a:ext cx="2203400" cy="730002"/>
          </a:xfrm>
          <a:prstGeom prst="roundRect">
            <a:avLst>
              <a:gd name="adj" fmla="val 104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9875" y="1415802"/>
            <a:ext cx="2443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Vessels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9875" y="1599902"/>
            <a:ext cx="1917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Autopilot, engine mgmt, bilge monitoring, anchor winch control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812852" y="1279327"/>
            <a:ext cx="2203400" cy="730002"/>
          </a:xfrm>
          <a:prstGeom prst="roundRect">
            <a:avLst>
              <a:gd name="adj" fmla="val 104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974777" y="1415802"/>
            <a:ext cx="2443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74777" y="1599902"/>
            <a:ext cx="1917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Irrigation, fertilization, harvest timing, greenhouse climate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117753" y="1279327"/>
            <a:ext cx="2203400" cy="730002"/>
          </a:xfrm>
          <a:prstGeom prst="roundRect">
            <a:avLst>
              <a:gd name="adj" fmla="val 104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279678" y="1415802"/>
            <a:ext cx="2443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Systems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279678" y="1599902"/>
            <a:ext cx="1917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control, predictive maintenance, energy optimization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07950" y="2110829"/>
            <a:ext cx="2203400" cy="730002"/>
          </a:xfrm>
          <a:prstGeom prst="roundRect">
            <a:avLst>
              <a:gd name="adj" fmla="val 104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69875" y="2247305"/>
            <a:ext cx="2443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Automation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9875" y="2431405"/>
            <a:ext cx="1917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Conveyor control, quality inspection, safety interlocks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812852" y="2110829"/>
            <a:ext cx="2203400" cy="730002"/>
          </a:xfrm>
          <a:prstGeom prst="roundRect">
            <a:avLst>
              <a:gd name="adj" fmla="val 104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974777" y="2247305"/>
            <a:ext cx="2443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Operations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974777" y="2431405"/>
            <a:ext cx="1917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Ventilation, pump control, environmental monitoring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17753" y="2110829"/>
            <a:ext cx="2203400" cy="730002"/>
          </a:xfrm>
          <a:prstGeom prst="roundRect">
            <a:avLst>
              <a:gd name="adj" fmla="val 104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279678" y="2247305"/>
            <a:ext cx="2443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Automation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279678" y="2431405"/>
            <a:ext cx="1917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scenes, security responses, energy management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7950" y="2942332"/>
            <a:ext cx="2203400" cy="730002"/>
          </a:xfrm>
          <a:prstGeom prst="roundRect">
            <a:avLst>
              <a:gd name="adj" fmla="val 104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69875" y="3078807"/>
            <a:ext cx="2443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Aerospace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69875" y="3262908"/>
            <a:ext cx="1917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DO-178C path, sensor fusion, flight surface control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812852" y="2942332"/>
            <a:ext cx="2203400" cy="730002"/>
          </a:xfrm>
          <a:prstGeom prst="roundRect">
            <a:avLst>
              <a:gd name="adj" fmla="val 104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974777" y="3078807"/>
            <a:ext cx="2443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974777" y="3262908"/>
            <a:ext cx="1917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device coordination, patient monitoring, IEC 62304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07950" y="3850035"/>
            <a:ext cx="8128099" cy="557510"/>
          </a:xfrm>
          <a:prstGeom prst="roundRect">
            <a:avLst>
              <a:gd name="adj" fmla="val 13668"/>
            </a:avLst>
          </a:prstGeom>
          <a:solidFill>
            <a:srgbClr val="37DCF2">
              <a:alpha val="4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95176" y="3986510"/>
            <a:ext cx="790872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Domain-agnostic architecture: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domain is defined entirely by configuration (sensor types, actuator types, safety rules) and equipment templates — not by custom code. One binary runs everywhere.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10566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Implementation</a:t>
            </a:r>
            <a:endParaRPr lang="en-US" sz="24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253877"/>
            <a:ext cx="51511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ESP32-S3 LIMB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7950" y="1472952"/>
            <a:ext cx="3962400" cy="986879"/>
          </a:xfrm>
          <a:prstGeom prst="roundRect">
            <a:avLst>
              <a:gd name="adj" fmla="val 772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9875" y="1609427"/>
            <a:ext cx="4730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(LX7 dual-core, 240 MHz)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9875" y="1803053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512 KB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PSRAM: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MB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 MB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69875" y="1933129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pins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ch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2x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3x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69875" y="2063204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802.11 b/g/n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5.0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OTG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9875" y="2193280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~$6-10 per unit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7950" y="2561332"/>
            <a:ext cx="51511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JETSON ORIN NANO SUPER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7950" y="2780407"/>
            <a:ext cx="3962400" cy="1116955"/>
          </a:xfrm>
          <a:prstGeom prst="roundRect">
            <a:avLst>
              <a:gd name="adj" fmla="val 682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9875" y="2916882"/>
            <a:ext cx="4730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Jetson Orin Nano Super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9875" y="3110508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1024-core Ampere,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TOPS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INT8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69875" y="3240584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6x Cortex-A78AE @ 1.5 GHz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69875" y="3370659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GB LPDDR5 @ 68 GB/s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9875" y="3500735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4x 4K@60 encode + decode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69875" y="3630811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15-25W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~$249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73501" y="1253877"/>
            <a:ext cx="5151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FIRMWARE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73501" y="1472952"/>
            <a:ext cx="3962549" cy="726728"/>
          </a:xfrm>
          <a:prstGeom prst="roundRect">
            <a:avLst>
              <a:gd name="adj" fmla="val 10485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835426" y="1609427"/>
            <a:ext cx="47303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Binary to Rule Them All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35426" y="1803053"/>
            <a:ext cx="37114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~320 KB binary. Role assigned via JSON at boot.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835426" y="1933129"/>
            <a:ext cx="37114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Hot-swap field replacement. Fisherman-proof provisioning.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673501" y="2301180"/>
            <a:ext cx="5151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SEQUENCE (SAFETY-CRITICAL)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73501" y="2520255"/>
            <a:ext cx="5958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257651" y="2520255"/>
            <a:ext cx="3445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Power-on. All GPIO LOW (safe state)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673501" y="2650331"/>
            <a:ext cx="5958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T+5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257651" y="2650331"/>
            <a:ext cx="3445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watchdog begins (200ms kick)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673501" y="2780407"/>
            <a:ext cx="5958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T+20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257651" y="2780407"/>
            <a:ext cx="3445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DEVICE_IDENTITY + AUTO_DETECT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673501" y="2910483"/>
            <a:ext cx="5958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T+50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257651" y="2910483"/>
            <a:ext cx="3445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Self-test. Wait for ROLE_ASSIGN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673501" y="3040559"/>
            <a:ext cx="5958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T+300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257651" y="3040559"/>
            <a:ext cx="3445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cached reflexes from LittleFS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673501" y="3170634"/>
            <a:ext cx="5958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T+500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257651" y="3170634"/>
            <a:ext cx="3445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OPERATIONAL. Begin heartbeat + control.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673501" y="3300710"/>
            <a:ext cx="3962549" cy="856804"/>
          </a:xfrm>
          <a:prstGeom prst="roundRect">
            <a:avLst>
              <a:gd name="adj" fmla="val 8894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835426" y="3437186"/>
            <a:ext cx="47303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Partition Table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835426" y="3630811"/>
            <a:ext cx="37114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512 KB (trusted recovery)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835426" y="3760887"/>
            <a:ext cx="37114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0/1: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1.5 MB each (A/B rollback)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835426" y="3890962"/>
            <a:ext cx="37114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Reflexes: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MB LittleFS | </a:t>
            </a:r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Coredump:</a:t>
            </a:r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 KB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spc="3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457200"/>
            <a:ext cx="105665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 + Build Timeline</a:t>
            </a:r>
            <a:endParaRPr lang="en-US" sz="2200" dirty="0"/>
          </a:p>
        </p:txBody>
      </p:sp>
      <p:pic>
        <p:nvPicPr>
          <p:cNvPr id="4" name="Image 0" descr="/home/z/my-project/download/nexus_pptx/accent_cyan_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857250"/>
            <a:ext cx="1015901" cy="5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50" y="1009501"/>
            <a:ext cx="1286917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74320" y="1095226"/>
            <a:ext cx="1754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8328" y="1346002"/>
            <a:ext cx="10861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FILES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858268" y="1009501"/>
            <a:ext cx="1287066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4320" y="1095226"/>
            <a:ext cx="44549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58644" y="1346002"/>
            <a:ext cx="1086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LINES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208734" y="1009501"/>
            <a:ext cx="1287066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74320" y="1095226"/>
            <a:ext cx="71558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09110" y="1346002"/>
            <a:ext cx="1086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 DECISIONS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07950" y="1590377"/>
            <a:ext cx="1286917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74320" y="1676102"/>
            <a:ext cx="1754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8328" y="1926878"/>
            <a:ext cx="10861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OPCODES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858268" y="1590377"/>
            <a:ext cx="1287066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74320" y="1676102"/>
            <a:ext cx="44549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958644" y="1926878"/>
            <a:ext cx="1086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MCUs EVALUATED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208734" y="1590377"/>
            <a:ext cx="1287066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74320" y="1676102"/>
            <a:ext cx="71558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309110" y="1926878"/>
            <a:ext cx="1086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 DRIVERS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507950" y="2171254"/>
            <a:ext cx="1286917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74320" y="2256979"/>
            <a:ext cx="1754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08328" y="2507754"/>
            <a:ext cx="10861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BUILD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1858268" y="2171254"/>
            <a:ext cx="1287066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74320" y="2256979"/>
            <a:ext cx="44549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958644" y="2507754"/>
            <a:ext cx="1086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TO DEMO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208734" y="2171254"/>
            <a:ext cx="1287066" cy="517475"/>
          </a:xfrm>
          <a:prstGeom prst="roundRect">
            <a:avLst>
              <a:gd name="adj" fmla="val 9817"/>
            </a:avLst>
          </a:prstGeom>
          <a:solidFill>
            <a:srgbClr val="37DCF2">
              <a:alpha val="6000"/>
            </a:srgbClr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74320" y="2256979"/>
            <a:ext cx="71558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309110" y="2507754"/>
            <a:ext cx="1086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CODES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4648200" y="1009501"/>
            <a:ext cx="5184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PHASES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48200" y="1209377"/>
            <a:ext cx="634901" cy="203150"/>
          </a:xfrm>
          <a:prstGeom prst="roundRect">
            <a:avLst>
              <a:gd name="adj" fmla="val 18755"/>
            </a:avLst>
          </a:prstGeom>
          <a:solidFill>
            <a:srgbClr val="37DCF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836468" y="1268016"/>
            <a:ext cx="2635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1-4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384602" y="1206252"/>
            <a:ext cx="1685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384602" y="1320552"/>
            <a:ext cx="13226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Protocol, VM, safety ISRs, I/O layer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4648200" y="1469678"/>
            <a:ext cx="634901" cy="203150"/>
          </a:xfrm>
          <a:prstGeom prst="roundRect">
            <a:avLst>
              <a:gd name="adj" fmla="val 18755"/>
            </a:avLst>
          </a:prstGeom>
          <a:solidFill>
            <a:srgbClr val="37DCF2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836468" y="1528316"/>
            <a:ext cx="2635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3-6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384602" y="1466552"/>
            <a:ext cx="1524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Integration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384602" y="1580852"/>
            <a:ext cx="11965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bridge, MQTT, cluster API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4648200" y="1729978"/>
            <a:ext cx="634901" cy="203150"/>
          </a:xfrm>
          <a:prstGeom prst="roundRect">
            <a:avLst>
              <a:gd name="adj" fmla="val 18755"/>
            </a:avLst>
          </a:prstGeom>
          <a:solidFill>
            <a:srgbClr val="37DCF2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836468" y="1788616"/>
            <a:ext cx="2635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5-9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5384602" y="1726853"/>
            <a:ext cx="15369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Code Gen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384602" y="1841153"/>
            <a:ext cx="12059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reflex compiler, </a:t>
            </a:r>
            <a:pPr algn="l" indent="0" marL="0">
              <a:buNone/>
            </a:pPr>
            <a:r>
              <a:rPr lang="en-US" sz="65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demo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4648200" y="1990279"/>
            <a:ext cx="634901" cy="203150"/>
          </a:xfrm>
          <a:prstGeom prst="roundRect">
            <a:avLst>
              <a:gd name="adj" fmla="val 18755"/>
            </a:avLst>
          </a:prstGeom>
          <a:solidFill>
            <a:srgbClr val="37DCF2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815334" y="2048917"/>
            <a:ext cx="306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8-12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5384602" y="1987153"/>
            <a:ext cx="16064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+ Autonomy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384602" y="2101453"/>
            <a:ext cx="12604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discovery, A/B, trust score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4648200" y="2250579"/>
            <a:ext cx="634901" cy="203150"/>
          </a:xfrm>
          <a:prstGeom prst="roundRect">
            <a:avLst>
              <a:gd name="adj" fmla="val 18755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794052" y="2309217"/>
            <a:ext cx="3499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12-16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5384602" y="2247454"/>
            <a:ext cx="16265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+ Deploy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384602" y="2361754"/>
            <a:ext cx="12762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Certification, field test, cloud, docs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248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4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62000" y="1701998"/>
            <a:ext cx="777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Ribosome, Not the Brain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2527399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does not centralize intelligence. It distributes cognition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27305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periphery, letting each limb think, react, and learn.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293370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emerges from coordination, not control.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3758952"/>
            <a:ext cx="7772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Platform v1.0.0  |  Production-Ready Specification  |  Hardware-Agentic  |  Post-Coding Architecture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Distributed Intelligence Platform</dc:title>
  <dc:subject>Production-Ready Specification Overview</dc:subject>
  <dc:creator>NEXUS Architecture Team</dc:creator>
  <cp:lastModifiedBy>NEXUS Architecture Team</cp:lastModifiedBy>
  <cp:revision>1</cp:revision>
  <dcterms:created xsi:type="dcterms:W3CDTF">2026-04-04T01:07:51Z</dcterms:created>
  <dcterms:modified xsi:type="dcterms:W3CDTF">2026-04-04T01:07:51Z</dcterms:modified>
</cp:coreProperties>
</file>