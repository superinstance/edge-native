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111448"/>
            <a:ext cx="762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53358" y="1289149"/>
            <a:ext cx="394827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5200" b="1" spc="1200" kern="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NEXUS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1588889" y="2127349"/>
            <a:ext cx="60855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1600" spc="300" kern="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POST-CODING INTELLIGENCE PLATFORM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637234" y="2898874"/>
            <a:ext cx="901898" cy="675977"/>
          </a:xfrm>
          <a:prstGeom prst="roundRect">
            <a:avLst>
              <a:gd name="adj" fmla="val 1127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845144" y="3009900"/>
            <a:ext cx="4860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845144" y="3330476"/>
            <a:ext cx="486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 files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43933" y="2898874"/>
            <a:ext cx="1201936" cy="675977"/>
          </a:xfrm>
          <a:prstGeom prst="roundRect">
            <a:avLst>
              <a:gd name="adj" fmla="val 1127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048842" y="3009900"/>
            <a:ext cx="79211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19,200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048842" y="3330476"/>
            <a:ext cx="7921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50669" y="2898874"/>
            <a:ext cx="1156097" cy="675977"/>
          </a:xfrm>
          <a:prstGeom prst="roundRect">
            <a:avLst>
              <a:gd name="adj" fmla="val 1127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556037" y="3009900"/>
            <a:ext cx="7453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556037" y="3330476"/>
            <a:ext cx="7453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 decisions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00896" y="3879652"/>
            <a:ext cx="19810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Production-Ready Specification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26430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2103388"/>
            <a:ext cx="4041648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Today's industrial robots require armies of programmers.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3344763"/>
            <a:ext cx="40416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 when hardware changes, the code breaks. Again.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24400" y="1535460"/>
            <a:ext cx="3962400" cy="831652"/>
          </a:xfrm>
          <a:prstGeom prst="roundRect">
            <a:avLst>
              <a:gd name="adj" fmla="val 6108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738688" y="1535460"/>
            <a:ext cx="0" cy="831652"/>
          </a:xfrm>
          <a:prstGeom prst="line">
            <a:avLst/>
          </a:prstGeom>
          <a:noFill/>
          <a:ln w="28575">
            <a:solidFill>
              <a:srgbClr val="FF4D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0676" y="1662410"/>
            <a:ext cx="36499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4D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6-18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930676" y="2097286"/>
            <a:ext cx="3649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months to program a single robot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24400" y="2494062"/>
            <a:ext cx="3962400" cy="831652"/>
          </a:xfrm>
          <a:prstGeom prst="roundRect">
            <a:avLst>
              <a:gd name="adj" fmla="val 6108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738688" y="2494062"/>
            <a:ext cx="0" cy="831652"/>
          </a:xfrm>
          <a:prstGeom prst="line">
            <a:avLst/>
          </a:prstGeom>
          <a:noFill/>
          <a:ln w="28575">
            <a:solidFill>
              <a:srgbClr val="FF4D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0676" y="2621012"/>
            <a:ext cx="36499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4D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3-5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930676" y="3055888"/>
            <a:ext cx="3649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specialized engineers required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24400" y="3452664"/>
            <a:ext cx="3962400" cy="631627"/>
          </a:xfrm>
          <a:prstGeom prst="roundRect">
            <a:avLst>
              <a:gd name="adj" fmla="val 8043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738688" y="3452664"/>
            <a:ext cx="0" cy="631627"/>
          </a:xfrm>
          <a:prstGeom prst="line">
            <a:avLst/>
          </a:prstGeom>
          <a:noFill/>
          <a:ln w="28575">
            <a:solidFill>
              <a:srgbClr val="FF4D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0676" y="3579614"/>
            <a:ext cx="36499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D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 breaks when hardware changes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30676" y="3814465"/>
            <a:ext cx="3649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sensor swap = weeks of rework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21388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VISION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619399" y="1506736"/>
            <a:ext cx="590520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if robots learned the way humans do?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14723" y="2084487"/>
            <a:ext cx="2050852" cy="1342876"/>
          </a:xfrm>
          <a:prstGeom prst="roundRect">
            <a:avLst>
              <a:gd name="adj" fmla="val 7566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362908" y="2297162"/>
            <a:ext cx="15544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◎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62908" y="2792462"/>
            <a:ext cx="15544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62908" y="3081338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Observe human actions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546574" y="2084487"/>
            <a:ext cx="2050852" cy="1342876"/>
          </a:xfrm>
          <a:prstGeom prst="roundRect">
            <a:avLst>
              <a:gd name="adj" fmla="val 7566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794760" y="2297162"/>
            <a:ext cx="15544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◈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794760" y="2792462"/>
            <a:ext cx="15544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94760" y="3081338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 patterns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78426" y="2084487"/>
            <a:ext cx="2050852" cy="1342876"/>
          </a:xfrm>
          <a:prstGeom prst="roundRect">
            <a:avLst>
              <a:gd name="adj" fmla="val 7566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26612" y="2297162"/>
            <a:ext cx="15544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▶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226612" y="2792462"/>
            <a:ext cx="15544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26612" y="3081338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 autonomously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922562" y="3681264"/>
            <a:ext cx="5298877" cy="482501"/>
          </a:xfrm>
          <a:prstGeom prst="roundRect">
            <a:avLst>
              <a:gd name="adj" fmla="val 1579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190184" y="3817739"/>
            <a:ext cx="47636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code. No keyboards. Just intent and demonstration.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28040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311325" y="1025426"/>
            <a:ext cx="6521351" cy="415677"/>
          </a:xfrm>
          <a:prstGeom prst="roundRect">
            <a:avLst>
              <a:gd name="adj" fmla="val 12221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463040" y="1098352"/>
            <a:ext cx="62179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Human Demonstrates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63040" y="1253877"/>
            <a:ext cx="621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 performs the behavior while narrating intent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495800" y="1504504"/>
            <a:ext cx="152400" cy="0"/>
          </a:xfrm>
          <a:prstGeom prst="line">
            <a:avLst/>
          </a:prstGeom>
          <a:noFill/>
          <a:ln w="76200">
            <a:solidFill>
              <a:srgbClr val="1A6E7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10100" y="1466404"/>
            <a:ext cx="0" cy="7620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33900" y="1466404"/>
            <a:ext cx="0" cy="7620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11325" y="1567904"/>
            <a:ext cx="6521351" cy="415677"/>
          </a:xfrm>
          <a:prstGeom prst="roundRect">
            <a:avLst>
              <a:gd name="adj" fmla="val 12221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463040" y="1640830"/>
            <a:ext cx="62179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System Records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63040" y="1796355"/>
            <a:ext cx="621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Sensors capture 100Hz data + voice narration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495800" y="2046982"/>
            <a:ext cx="152400" cy="0"/>
          </a:xfrm>
          <a:prstGeom prst="line">
            <a:avLst/>
          </a:prstGeom>
          <a:noFill/>
          <a:ln w="76200">
            <a:solidFill>
              <a:srgbClr val="1A6E7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10100" y="2008882"/>
            <a:ext cx="0" cy="7620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33900" y="2008882"/>
            <a:ext cx="0" cy="7620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11325" y="2110383"/>
            <a:ext cx="6521351" cy="415677"/>
          </a:xfrm>
          <a:prstGeom prst="roundRect">
            <a:avLst>
              <a:gd name="adj" fmla="val 12221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463040" y="2183309"/>
            <a:ext cx="62179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AI Discovers Patterns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463040" y="2338834"/>
            <a:ext cx="621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algorithms find correlations, rules, and behaviors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495800" y="2589461"/>
            <a:ext cx="152400" cy="0"/>
          </a:xfrm>
          <a:prstGeom prst="line">
            <a:avLst/>
          </a:prstGeom>
          <a:noFill/>
          <a:ln w="76200">
            <a:solidFill>
              <a:srgbClr val="1A6E7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10100" y="2551361"/>
            <a:ext cx="0" cy="7620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33900" y="2551361"/>
            <a:ext cx="0" cy="7620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11325" y="2652861"/>
            <a:ext cx="6521351" cy="415677"/>
          </a:xfrm>
          <a:prstGeom prst="roundRect">
            <a:avLst>
              <a:gd name="adj" fmla="val 12221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463040" y="2725787"/>
            <a:ext cx="62179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Generates Proposal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463040" y="2881313"/>
            <a:ext cx="621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writes reflex code, separate AI validates safety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495800" y="3131939"/>
            <a:ext cx="152400" cy="0"/>
          </a:xfrm>
          <a:prstGeom prst="line">
            <a:avLst/>
          </a:prstGeom>
          <a:noFill/>
          <a:ln w="76200">
            <a:solidFill>
              <a:srgbClr val="1A6E7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10100" y="3093839"/>
            <a:ext cx="0" cy="7620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33900" y="3093839"/>
            <a:ext cx="0" cy="7620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11325" y="3195340"/>
            <a:ext cx="6521351" cy="415677"/>
          </a:xfrm>
          <a:prstGeom prst="roundRect">
            <a:avLst>
              <a:gd name="adj" fmla="val 12221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1463040" y="3268266"/>
            <a:ext cx="62179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A/B Tests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463040" y="3423791"/>
            <a:ext cx="621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Proposed reflex vs. human baseline, statistical validation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495800" y="3674418"/>
            <a:ext cx="152400" cy="0"/>
          </a:xfrm>
          <a:prstGeom prst="line">
            <a:avLst/>
          </a:prstGeom>
          <a:noFill/>
          <a:ln w="76200">
            <a:solidFill>
              <a:srgbClr val="1A6E7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10100" y="3636318"/>
            <a:ext cx="0" cy="7620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33900" y="3636318"/>
            <a:ext cx="0" cy="7620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311325" y="3737818"/>
            <a:ext cx="6521351" cy="415677"/>
          </a:xfrm>
          <a:prstGeom prst="roundRect">
            <a:avLst>
              <a:gd name="adj" fmla="val 12221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1463040" y="3810744"/>
            <a:ext cx="62179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Human Approves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463040" y="3966270"/>
            <a:ext cx="621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Natural-language explanation, not code. Approve or reject.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495800" y="4216896"/>
            <a:ext cx="152400" cy="0"/>
          </a:xfrm>
          <a:prstGeom prst="line">
            <a:avLst/>
          </a:prstGeom>
          <a:noFill/>
          <a:ln w="76200">
            <a:solidFill>
              <a:srgbClr val="1A6E7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10100" y="4178796"/>
            <a:ext cx="0" cy="7620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33900" y="4178796"/>
            <a:ext cx="0" cy="7620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311325" y="4280297"/>
            <a:ext cx="6521351" cy="415677"/>
          </a:xfrm>
          <a:prstGeom prst="roundRect">
            <a:avLst>
              <a:gd name="adj" fmla="val 12221"/>
            </a:avLst>
          </a:prstGeom>
          <a:solidFill>
            <a:srgbClr val="1E2D42"/>
          </a:solidFill>
          <a:ln w="9525">
            <a:solidFill>
              <a:srgbClr val="2EE8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1463040" y="4353223"/>
            <a:ext cx="62179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 Deploys to Hardware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463040" y="4508748"/>
            <a:ext cx="6217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Trust score incremented. Autonomy level may increase.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5131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THREE-TIER ARCHITECTURE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879574" y="1138535"/>
            <a:ext cx="7384852" cy="885676"/>
          </a:xfrm>
          <a:prstGeom prst="roundRect">
            <a:avLst>
              <a:gd name="adj" fmla="val 8604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074420" y="1300460"/>
            <a:ext cx="69951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E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TIER 3: CLOUD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4420" y="1560761"/>
            <a:ext cx="69951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Heavy training, simulation, fleet management  |  Starlink/5G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4420" y="1728936"/>
            <a:ext cx="6995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 suggest but cannot command actuators directly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59201" y="2024211"/>
            <a:ext cx="25301" cy="126950"/>
          </a:xfrm>
          <a:prstGeom prst="rect">
            <a:avLst/>
          </a:prstGeom>
          <a:solidFill>
            <a:srgbClr val="1A6E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143077" y="2151162"/>
            <a:ext cx="8748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6E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queue-and-forward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59201" y="2265462"/>
            <a:ext cx="25301" cy="126950"/>
          </a:xfrm>
          <a:prstGeom prst="rect">
            <a:avLst/>
          </a:prstGeom>
          <a:solidFill>
            <a:srgbClr val="1A6E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79574" y="2392412"/>
            <a:ext cx="7384852" cy="885676"/>
          </a:xfrm>
          <a:prstGeom prst="roundRect">
            <a:avLst>
              <a:gd name="adj" fmla="val 8604"/>
            </a:avLst>
          </a:prstGeom>
          <a:solidFill>
            <a:srgbClr val="1E2D42"/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074420" y="2554337"/>
            <a:ext cx="69951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TIER 2: JETSON BRAIN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74420" y="2814638"/>
            <a:ext cx="69951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inference, pattern discovery, chat interface  |  10-500ms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4420" y="2982813"/>
            <a:ext cx="6995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3+ NVIDIA Jetson Orin Nano cluster, 40 TOPS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59350" y="3278088"/>
            <a:ext cx="25301" cy="126950"/>
          </a:xfrm>
          <a:prstGeom prst="rect">
            <a:avLst/>
          </a:prstGeom>
          <a:solidFill>
            <a:srgbClr val="1A6E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075361" y="3405039"/>
            <a:ext cx="10131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RS-422  921,600 baud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559350" y="3519339"/>
            <a:ext cx="25301" cy="126950"/>
          </a:xfrm>
          <a:prstGeom prst="rect">
            <a:avLst/>
          </a:prstGeom>
          <a:solidFill>
            <a:srgbClr val="1A6E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79574" y="3646289"/>
            <a:ext cx="7384852" cy="885676"/>
          </a:xfrm>
          <a:prstGeom prst="roundRect">
            <a:avLst>
              <a:gd name="adj" fmla="val 8604"/>
            </a:avLst>
          </a:prstGeom>
          <a:solidFill>
            <a:srgbClr val="1E2D42"/>
          </a:solidFill>
          <a:ln w="9525">
            <a:solidFill>
              <a:srgbClr val="2EE8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074420" y="3808214"/>
            <a:ext cx="69951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TIER 1: MCU LIMBS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74420" y="4068514"/>
            <a:ext cx="69951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control, sensor polling, safety  |  1kHz reflex loop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4420" y="4236690"/>
            <a:ext cx="6995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ESP32-class, $6/unit, safety override is absolute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3388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71514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LIMB: ONE FIRMWARE, INFINITE ROLES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57200" y="1833860"/>
            <a:ext cx="40416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single 320KB binary runs on every microcontroller.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2335411"/>
            <a:ext cx="40416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is assigned at boot via JSON from the Jetson. No per-role firmware images needed.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2824163"/>
            <a:ext cx="3962400" cy="615851"/>
          </a:xfrm>
          <a:prstGeom prst="roundRect">
            <a:avLst>
              <a:gd name="adj" fmla="val 12373"/>
            </a:avLst>
          </a:prstGeom>
          <a:solidFill>
            <a:srgbClr val="1E2D42"/>
          </a:solidFill>
          <a:ln w="9525">
            <a:solidFill>
              <a:srgbClr val="2EE8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4426" y="2960638"/>
            <a:ext cx="3659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Hot-swap: Replace a failed unit in 2 minutes, no laptop needed.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541514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Boots to OPERATIONAL in 500ms. Auto-detects sensors and loads cached reflexes.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24400" y="1253728"/>
            <a:ext cx="3962400" cy="437852"/>
          </a:xfrm>
          <a:prstGeom prst="roundRect">
            <a:avLst>
              <a:gd name="adj" fmla="val 1740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911626" y="1390204"/>
            <a:ext cx="485031" cy="164902"/>
          </a:xfrm>
          <a:prstGeom prst="roundRect">
            <a:avLst>
              <a:gd name="adj" fmla="val 30806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13127" y="1415504"/>
            <a:ext cx="287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23607" y="1396454"/>
            <a:ext cx="12110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Autopilot Controller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24400" y="1793081"/>
            <a:ext cx="3962400" cy="437852"/>
          </a:xfrm>
          <a:prstGeom prst="roundRect">
            <a:avLst>
              <a:gd name="adj" fmla="val 1740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11626" y="1929557"/>
            <a:ext cx="485031" cy="164902"/>
          </a:xfrm>
          <a:prstGeom prst="roundRect">
            <a:avLst>
              <a:gd name="adj" fmla="val 30806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013127" y="1954857"/>
            <a:ext cx="287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523607" y="1935807"/>
            <a:ext cx="957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 Monitor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24400" y="2332434"/>
            <a:ext cx="3962400" cy="437852"/>
          </a:xfrm>
          <a:prstGeom prst="roundRect">
            <a:avLst>
              <a:gd name="adj" fmla="val 1740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11626" y="2468910"/>
            <a:ext cx="485031" cy="164902"/>
          </a:xfrm>
          <a:prstGeom prst="roundRect">
            <a:avLst>
              <a:gd name="adj" fmla="val 30806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013127" y="2494211"/>
            <a:ext cx="287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23607" y="2475161"/>
            <a:ext cx="11556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Lighting Controller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24400" y="2871788"/>
            <a:ext cx="3962400" cy="437852"/>
          </a:xfrm>
          <a:prstGeom prst="roundRect">
            <a:avLst>
              <a:gd name="adj" fmla="val 1740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11626" y="3008263"/>
            <a:ext cx="485031" cy="164902"/>
          </a:xfrm>
          <a:prstGeom prst="roundRect">
            <a:avLst>
              <a:gd name="adj" fmla="val 30806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013127" y="3033564"/>
            <a:ext cx="287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523607" y="3014514"/>
            <a:ext cx="12426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Bilge Pump Monitor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24400" y="3411141"/>
            <a:ext cx="3962400" cy="437852"/>
          </a:xfrm>
          <a:prstGeom prst="roundRect">
            <a:avLst>
              <a:gd name="adj" fmla="val 1740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11626" y="3547616"/>
            <a:ext cx="485031" cy="164902"/>
          </a:xfrm>
          <a:prstGeom prst="roundRect">
            <a:avLst>
              <a:gd name="adj" fmla="val 30806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013127" y="3572917"/>
            <a:ext cx="287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23607" y="3553867"/>
            <a:ext cx="752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Sensor Hub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24400" y="3950494"/>
            <a:ext cx="3962400" cy="437852"/>
          </a:xfrm>
          <a:prstGeom prst="roundRect">
            <a:avLst>
              <a:gd name="adj" fmla="val 1740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11626" y="4086969"/>
            <a:ext cx="417314" cy="164902"/>
          </a:xfrm>
          <a:prstGeom prst="roundRect">
            <a:avLst>
              <a:gd name="adj" fmla="val 30806"/>
            </a:avLst>
          </a:prstGeom>
          <a:solidFill>
            <a:srgbClr val="8899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13127" y="4112270"/>
            <a:ext cx="218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455890" y="4093220"/>
            <a:ext cx="15672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 future role via config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3388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44193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BRAIN: BYTECODE VM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74904" y="1410146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AI-generated code compiled to bytecode, not interpreted.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787872"/>
            <a:ext cx="4013150" cy="1666429"/>
          </a:xfrm>
          <a:prstGeom prst="roundRect">
            <a:avLst>
              <a:gd name="adj" fmla="val 4573"/>
            </a:avLst>
          </a:prstGeom>
          <a:solidFill>
            <a:srgbClr val="1E2D42"/>
          </a:solidFill>
          <a:ln w="9525">
            <a:solidFill>
              <a:srgbClr val="FF4D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44426" y="1975098"/>
            <a:ext cx="3711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D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JSON Interpretation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4426" y="2286149"/>
            <a:ext cx="371147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F4D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1000us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4426" y="2721025"/>
            <a:ext cx="37114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 cycle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4426" y="2940100"/>
            <a:ext cx="37114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4D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 SLOW at 1kHz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426" y="3133725"/>
            <a:ext cx="37114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Variable timing, memory fragmentation, JSON injection risk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73501" y="1787872"/>
            <a:ext cx="4013299" cy="1666429"/>
          </a:xfrm>
          <a:prstGeom prst="roundRect">
            <a:avLst>
              <a:gd name="adj" fmla="val 4573"/>
            </a:avLst>
          </a:prstGeom>
          <a:solidFill>
            <a:srgbClr val="1E2D42"/>
          </a:solidFill>
          <a:ln w="9525">
            <a:solidFill>
              <a:srgbClr val="2EE8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60727" y="1975098"/>
            <a:ext cx="3711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NEXUS Bytecode VM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60727" y="2286149"/>
            <a:ext cx="37116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100us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860727" y="2721025"/>
            <a:ext cx="37116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 cycle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60727" y="2940100"/>
            <a:ext cx="37116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10x FASTER, deterministic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60727" y="3133725"/>
            <a:ext cx="3711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Fixed cycle count, zero allocation, type-safe sandbox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952155" y="3632002"/>
            <a:ext cx="809179" cy="599777"/>
          </a:xfrm>
          <a:prstGeom prst="roundRect">
            <a:avLst>
              <a:gd name="adj" fmla="val 12705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60992" y="3743027"/>
            <a:ext cx="3915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160992" y="4006453"/>
            <a:ext cx="3915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opcodes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913733" y="3632002"/>
            <a:ext cx="938808" cy="599777"/>
          </a:xfrm>
          <a:prstGeom prst="roundRect">
            <a:avLst>
              <a:gd name="adj" fmla="val 12705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121274" y="3743027"/>
            <a:ext cx="5237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8B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121274" y="4006453"/>
            <a:ext cx="5237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instructions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004941" y="3632002"/>
            <a:ext cx="1186904" cy="599777"/>
          </a:xfrm>
          <a:prstGeom prst="roundRect">
            <a:avLst>
              <a:gd name="adj" fmla="val 12705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210001" y="3743027"/>
            <a:ext cx="7767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3KB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210001" y="4006453"/>
            <a:ext cx="7767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footprint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69007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SAFETY: FOUR INDEPENDENT LAYERS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607493"/>
            <a:ext cx="8229600" cy="386953"/>
          </a:xfrm>
          <a:prstGeom prst="roundRect">
            <a:avLst>
              <a:gd name="adj" fmla="val 19692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76250" y="1607493"/>
            <a:ext cx="0" cy="386953"/>
          </a:xfrm>
          <a:prstGeom prst="line">
            <a:avLst/>
          </a:prstGeom>
          <a:noFill/>
          <a:ln w="38100">
            <a:solidFill>
              <a:srgbClr val="1A6E7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3001" y="1708993"/>
            <a:ext cx="1117402" cy="183952"/>
          </a:xfrm>
          <a:prstGeom prst="roundRect">
            <a:avLst>
              <a:gd name="adj" fmla="val 27616"/>
            </a:avLst>
          </a:prstGeom>
          <a:solidFill>
            <a:srgbClr val="1A6E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65358" y="1734294"/>
            <a:ext cx="932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917353" y="1724769"/>
            <a:ext cx="3374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PID, AI, reflexes  |  lowest authority, always overridable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070646"/>
            <a:ext cx="8229600" cy="386953"/>
          </a:xfrm>
          <a:prstGeom prst="roundRect">
            <a:avLst>
              <a:gd name="adj" fmla="val 19692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76250" y="2070646"/>
            <a:ext cx="0" cy="386953"/>
          </a:xfrm>
          <a:prstGeom prst="line">
            <a:avLst/>
          </a:prstGeom>
          <a:noFill/>
          <a:ln w="38100">
            <a:solidFill>
              <a:srgbClr val="FFD9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001" y="2172146"/>
            <a:ext cx="1117402" cy="183952"/>
          </a:xfrm>
          <a:prstGeom prst="roundRect">
            <a:avLst>
              <a:gd name="adj" fmla="val 27616"/>
            </a:avLst>
          </a:prstGeom>
          <a:solidFill>
            <a:srgbClr val="665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65358" y="2197447"/>
            <a:ext cx="932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9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917353" y="2187922"/>
            <a:ext cx="29225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Heartbeat, task watchdog |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 100ms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response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533799"/>
            <a:ext cx="8229600" cy="386953"/>
          </a:xfrm>
          <a:prstGeom prst="roundRect">
            <a:avLst>
              <a:gd name="adj" fmla="val 19692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76250" y="2533799"/>
            <a:ext cx="0" cy="386953"/>
          </a:xfrm>
          <a:prstGeom prst="line">
            <a:avLst/>
          </a:prstGeom>
          <a:noFill/>
          <a:ln w="38100">
            <a:solidFill>
              <a:srgbClr val="FF8C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3001" y="2635300"/>
            <a:ext cx="1117402" cy="183952"/>
          </a:xfrm>
          <a:prstGeom prst="roundRect">
            <a:avLst>
              <a:gd name="adj" fmla="val 27616"/>
            </a:avLst>
          </a:prstGeom>
          <a:solidFill>
            <a:srgbClr val="6633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65358" y="2660600"/>
            <a:ext cx="932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FIRMWARE ISR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917353" y="2651075"/>
            <a:ext cx="3001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E-stop interrupt, overcurrent |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 10ms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response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2996952"/>
            <a:ext cx="8229600" cy="386953"/>
          </a:xfrm>
          <a:prstGeom prst="roundRect">
            <a:avLst>
              <a:gd name="adj" fmla="val 19692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6250" y="2996952"/>
            <a:ext cx="0" cy="386953"/>
          </a:xfrm>
          <a:prstGeom prst="line">
            <a:avLst/>
          </a:prstGeom>
          <a:noFill/>
          <a:ln w="38100">
            <a:solidFill>
              <a:srgbClr val="FF4D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3001" y="3098453"/>
            <a:ext cx="1117402" cy="183952"/>
          </a:xfrm>
          <a:prstGeom prst="roundRect">
            <a:avLst>
              <a:gd name="adj" fmla="val 27616"/>
            </a:avLst>
          </a:prstGeom>
          <a:solidFill>
            <a:srgbClr val="6600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65358" y="3123754"/>
            <a:ext cx="932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HARDWARE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917353" y="3114229"/>
            <a:ext cx="367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Kill switch, watchdog, fuses |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 1ms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ABSOLUTE authority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3510855"/>
            <a:ext cx="8229600" cy="552152"/>
          </a:xfrm>
          <a:prstGeom prst="roundRect">
            <a:avLst>
              <a:gd name="adj" fmla="val 13801"/>
            </a:avLst>
          </a:prstGeom>
          <a:solidFill>
            <a:srgbClr val="1E2D42"/>
          </a:solidFill>
          <a:ln w="9525">
            <a:solidFill>
              <a:srgbClr val="2EE8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65874" y="3621881"/>
            <a:ext cx="80122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Compliant with IEC 61508 SIL 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5874" y="3818632"/>
            <a:ext cx="8012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Defense in depth: no single tier is sufficient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552878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TRUST EARNED, NEVER GIVEN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663898"/>
            <a:ext cx="29246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system earns autonomy the way a deckhand earns a captain's trust: slowly.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2279749"/>
            <a:ext cx="29246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Based on human psychology research (Lee &amp; See, 2004).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2667000"/>
            <a:ext cx="2867323" cy="850702"/>
          </a:xfrm>
          <a:prstGeom prst="roundRect">
            <a:avLst>
              <a:gd name="adj" fmla="val 8957"/>
            </a:avLst>
          </a:prstGeom>
          <a:solidFill>
            <a:srgbClr val="1E2D42"/>
          </a:solidFill>
          <a:ln w="9525">
            <a:solidFill>
              <a:srgbClr val="FF4D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67732" y="2803475"/>
            <a:ext cx="264625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D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25:1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67732" y="3238351"/>
            <a:ext cx="26462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trust loss : gain ratio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619202"/>
            <a:ext cx="2924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 good operations to gain 0.1 trust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3863578"/>
            <a:ext cx="2924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4D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bad operations to lose it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78423" y="1724174"/>
            <a:ext cx="1044476" cy="285750"/>
          </a:xfrm>
          <a:prstGeom prst="roundRect">
            <a:avLst>
              <a:gd name="adj" fmla="val 17778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592711" y="1724174"/>
            <a:ext cx="0" cy="285750"/>
          </a:xfrm>
          <a:prstGeom prst="line">
            <a:avLst/>
          </a:prstGeom>
          <a:noFill/>
          <a:ln w="28575">
            <a:solidFill>
              <a:srgbClr val="8899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33949" y="1800374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L0 MANUAL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78423" y="2060674"/>
            <a:ext cx="1806476" cy="285750"/>
          </a:xfrm>
          <a:prstGeom prst="roundRect">
            <a:avLst>
              <a:gd name="adj" fmla="val 17778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592711" y="2060674"/>
            <a:ext cx="0" cy="285750"/>
          </a:xfrm>
          <a:prstGeom prst="line">
            <a:avLst/>
          </a:prstGeom>
          <a:noFill/>
          <a:ln w="28575">
            <a:solidFill>
              <a:srgbClr val="1A6E7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33949" y="2136874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6E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L1 ASSIST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578423" y="2397175"/>
            <a:ext cx="2568476" cy="285750"/>
          </a:xfrm>
          <a:prstGeom prst="roundRect">
            <a:avLst>
              <a:gd name="adj" fmla="val 17778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3592711" y="2397175"/>
            <a:ext cx="0" cy="285750"/>
          </a:xfrm>
          <a:prstGeom prst="line">
            <a:avLst/>
          </a:prstGeom>
          <a:noFill/>
          <a:ln w="28575">
            <a:solidFill>
              <a:srgbClr val="37DC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33949" y="2473375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L2 SEMI-AUTO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578423" y="2733675"/>
            <a:ext cx="3330476" cy="412700"/>
          </a:xfrm>
          <a:prstGeom prst="roundRect">
            <a:avLst>
              <a:gd name="adj" fmla="val 12309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3592711" y="2733675"/>
            <a:ext cx="0" cy="412700"/>
          </a:xfrm>
          <a:prstGeom prst="line">
            <a:avLst/>
          </a:prstGeom>
          <a:noFill/>
          <a:ln w="28575">
            <a:solidFill>
              <a:srgbClr val="FFD9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33949" y="2809875"/>
            <a:ext cx="3108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9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L3 CONDITIONAL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733949" y="2955875"/>
            <a:ext cx="3108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~120 days flawless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578423" y="3197126"/>
            <a:ext cx="4219426" cy="285750"/>
          </a:xfrm>
          <a:prstGeom prst="roundRect">
            <a:avLst>
              <a:gd name="adj" fmla="val 17778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3592711" y="3197126"/>
            <a:ext cx="0" cy="285750"/>
          </a:xfrm>
          <a:prstGeom prst="line">
            <a:avLst/>
          </a:prstGeom>
          <a:noFill/>
          <a:ln w="28575">
            <a:solidFill>
              <a:srgbClr val="2EE89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33949" y="3273326"/>
            <a:ext cx="4015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L4 HIGH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578423" y="3533626"/>
            <a:ext cx="5108377" cy="412700"/>
          </a:xfrm>
          <a:prstGeom prst="roundRect">
            <a:avLst>
              <a:gd name="adj" fmla="val 12309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3592711" y="3533626"/>
            <a:ext cx="0" cy="412700"/>
          </a:xfrm>
          <a:prstGeom prst="line">
            <a:avLst/>
          </a:prstGeom>
          <a:noFill/>
          <a:ln w="28575">
            <a:solidFill>
              <a:srgbClr val="2EE89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33949" y="3609826"/>
            <a:ext cx="492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L5 FULL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733949" y="3755827"/>
            <a:ext cx="492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~300 days flawless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626825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HARDWARE-AGNOSTIC BY DESIGN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74904" y="1843236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Works on any MCU meeting minimal specs.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2195661"/>
            <a:ext cx="1943100" cy="669727"/>
          </a:xfrm>
          <a:prstGeom prst="roundRect">
            <a:avLst>
              <a:gd name="adj" fmla="val 11378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28739" y="2332137"/>
            <a:ext cx="1600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200MHz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8739" y="2595563"/>
            <a:ext cx="1600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dual-core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52700" y="2195661"/>
            <a:ext cx="1943100" cy="669727"/>
          </a:xfrm>
          <a:prstGeom prst="roundRect">
            <a:avLst>
              <a:gd name="adj" fmla="val 11378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24239" y="2332137"/>
            <a:ext cx="1600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512KB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724239" y="2595563"/>
            <a:ext cx="1600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SRAM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48200" y="2195661"/>
            <a:ext cx="1943100" cy="669727"/>
          </a:xfrm>
          <a:prstGeom prst="roundRect">
            <a:avLst>
              <a:gd name="adj" fmla="val 11378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19739" y="2332137"/>
            <a:ext cx="1600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4MB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19739" y="2595563"/>
            <a:ext cx="1600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flash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43700" y="2195661"/>
            <a:ext cx="1943100" cy="669727"/>
          </a:xfrm>
          <a:prstGeom prst="roundRect">
            <a:avLst>
              <a:gd name="adj" fmla="val 11378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915239" y="2332137"/>
            <a:ext cx="1600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UART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15239" y="2595563"/>
            <a:ext cx="16000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minimum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4904" y="3017788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MCU families evaluated. The bar is deliberately LOW.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308622" y="3313063"/>
            <a:ext cx="1038523" cy="514052"/>
          </a:xfrm>
          <a:prstGeom prst="roundRect">
            <a:avLst>
              <a:gd name="adj" fmla="val 1482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489207" y="3424089"/>
            <a:ext cx="677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ESP32-S3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489207" y="3601789"/>
            <a:ext cx="6773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$6  |  Reference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474095" y="3313063"/>
            <a:ext cx="1002953" cy="514052"/>
          </a:xfrm>
          <a:prstGeom prst="roundRect">
            <a:avLst>
              <a:gd name="adj" fmla="val 1482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655036" y="3424089"/>
            <a:ext cx="641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STM32H7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5036" y="3601789"/>
            <a:ext cx="6410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480MHz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603998" y="3313063"/>
            <a:ext cx="1078111" cy="514052"/>
          </a:xfrm>
          <a:prstGeom prst="roundRect">
            <a:avLst>
              <a:gd name="adj" fmla="val 1482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84187" y="3424089"/>
            <a:ext cx="7177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Teensy 4.1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84187" y="3601789"/>
            <a:ext cx="7177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600MHz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09059" y="3313063"/>
            <a:ext cx="1026319" cy="514052"/>
          </a:xfrm>
          <a:prstGeom prst="roundRect">
            <a:avLst>
              <a:gd name="adj" fmla="val 1482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989766" y="3424089"/>
            <a:ext cx="664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ESP32-P4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989766" y="3601789"/>
            <a:ext cx="6649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400MHz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31004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WIRE PROTOCOL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74904" y="1683246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byte matters.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2060972"/>
            <a:ext cx="8229600" cy="1148953"/>
          </a:xfrm>
          <a:prstGeom prst="roundRect">
            <a:avLst>
              <a:gd name="adj" fmla="val 6632"/>
            </a:avLst>
          </a:prstGeom>
          <a:solidFill>
            <a:srgbClr val="1E2D42"/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43598" y="2248198"/>
            <a:ext cx="7856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COBS-framed message structure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53171" y="2492573"/>
            <a:ext cx="536377" cy="295275"/>
          </a:xfrm>
          <a:prstGeom prst="roundRect">
            <a:avLst>
              <a:gd name="adj" fmla="val 17204"/>
            </a:avLst>
          </a:prstGeom>
          <a:solidFill>
            <a:srgbClr val="FF4D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77297" y="2568773"/>
            <a:ext cx="288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0x00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340298" y="2492573"/>
            <a:ext cx="1700064" cy="295275"/>
          </a:xfrm>
          <a:prstGeom prst="roundRect">
            <a:avLst>
              <a:gd name="adj" fmla="val 17204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52787" y="2568773"/>
            <a:ext cx="14750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COBS-encoded payload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91113" y="2492573"/>
            <a:ext cx="712440" cy="295275"/>
          </a:xfrm>
          <a:prstGeom prst="roundRect">
            <a:avLst>
              <a:gd name="adj" fmla="val 17204"/>
            </a:avLst>
          </a:prstGeom>
          <a:solidFill>
            <a:srgbClr val="FFD9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213477" y="2568773"/>
            <a:ext cx="4677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CRC-16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4303" y="2492573"/>
            <a:ext cx="536377" cy="295275"/>
          </a:xfrm>
          <a:prstGeom prst="roundRect">
            <a:avLst>
              <a:gd name="adj" fmla="val 17204"/>
            </a:avLst>
          </a:prstGeom>
          <a:solidFill>
            <a:srgbClr val="FF4D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978429" y="2568773"/>
            <a:ext cx="288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0x00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3598" y="2889349"/>
            <a:ext cx="7856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Self-synchronizing. 0.4% overhead vs. 33% for base64.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423220" y="3387626"/>
            <a:ext cx="1057126" cy="599777"/>
          </a:xfrm>
          <a:prstGeom prst="roundRect">
            <a:avLst>
              <a:gd name="adj" fmla="val 12705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03619" y="3498652"/>
            <a:ext cx="6963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603619" y="3762077"/>
            <a:ext cx="6963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message types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632746" y="3387626"/>
            <a:ext cx="887909" cy="599777"/>
          </a:xfrm>
          <a:prstGeom prst="roundRect">
            <a:avLst>
              <a:gd name="adj" fmla="val 12705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814837" y="3498652"/>
            <a:ext cx="5237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814837" y="3762077"/>
            <a:ext cx="5237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error codes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73054" y="3387626"/>
            <a:ext cx="1052364" cy="599777"/>
          </a:xfrm>
          <a:prstGeom prst="roundRect">
            <a:avLst>
              <a:gd name="adj" fmla="val 12705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53501" y="3498652"/>
            <a:ext cx="6914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921600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853501" y="3762077"/>
            <a:ext cx="691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baud RS-422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877818" y="3387626"/>
            <a:ext cx="842814" cy="599777"/>
          </a:xfrm>
          <a:prstGeom prst="roundRect">
            <a:avLst>
              <a:gd name="adj" fmla="val 12705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060360" y="3498652"/>
            <a:ext cx="477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10m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060360" y="3762077"/>
            <a:ext cx="477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cable runs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52453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REAL-WORLD APPLICATIONS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835348" y="930771"/>
            <a:ext cx="2660452" cy="1060103"/>
          </a:xfrm>
          <a:prstGeom prst="roundRect">
            <a:avLst>
              <a:gd name="adj" fmla="val 9584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999714" y="1117997"/>
            <a:ext cx="2331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⚓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999714" y="1473547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Marine Vessels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99714" y="1670298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Autopilot, engine, bilge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648200" y="930771"/>
            <a:ext cx="2660452" cy="1060103"/>
          </a:xfrm>
          <a:prstGeom prst="roundRect">
            <a:avLst>
              <a:gd name="adj" fmla="val 9584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12566" y="1117997"/>
            <a:ext cx="2331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☘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812566" y="1473547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Agriculture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12566" y="1670298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Irrigation, harvest timing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835348" y="2143274"/>
            <a:ext cx="2660452" cy="1060103"/>
          </a:xfrm>
          <a:prstGeom prst="roundRect">
            <a:avLst>
              <a:gd name="adj" fmla="val 9584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999714" y="2330500"/>
            <a:ext cx="2331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9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☁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999714" y="268605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HVAC Systems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999714" y="2882801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Zone control, energy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648200" y="2143274"/>
            <a:ext cx="2660452" cy="1060103"/>
          </a:xfrm>
          <a:prstGeom prst="roundRect">
            <a:avLst>
              <a:gd name="adj" fmla="val 9584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12566" y="2330500"/>
            <a:ext cx="2331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⚙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812566" y="268605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Factory Automation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12566" y="2882801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Conveyors, quality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835348" y="3355777"/>
            <a:ext cx="2660452" cy="1060103"/>
          </a:xfrm>
          <a:prstGeom prst="roundRect">
            <a:avLst>
              <a:gd name="adj" fmla="val 9584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999714" y="3543002"/>
            <a:ext cx="2331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4D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⚒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999714" y="3898553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Mining Operations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999714" y="4095304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Ventilation, pumps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48200" y="3355777"/>
            <a:ext cx="2660452" cy="1060103"/>
          </a:xfrm>
          <a:prstGeom prst="roundRect">
            <a:avLst>
              <a:gd name="adj" fmla="val 9584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12566" y="3543002"/>
            <a:ext cx="2331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6E7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⌂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812566" y="3889028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Home Automation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12566" y="4085779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Lighting, security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74904" y="4593580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platform. Different configuration. Zero code changes.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3388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372287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MARINE PROVENANCE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74904" y="1546473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Born from 7 phases of iterative marine autopilot engineering.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56097" y="2479923"/>
            <a:ext cx="1650802" cy="866477"/>
          </a:xfrm>
          <a:prstGeom prst="roundRect">
            <a:avLst>
              <a:gd name="adj" fmla="val 8794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1156097" y="3332113"/>
            <a:ext cx="1650802" cy="0"/>
          </a:xfrm>
          <a:prstGeom prst="line">
            <a:avLst/>
          </a:prstGeom>
          <a:noFill/>
          <a:ln w="28575">
            <a:solidFill>
              <a:srgbClr val="1A6E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69078" y="2581424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269078" y="2721025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Chatbot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883098" y="2352824"/>
            <a:ext cx="1650802" cy="993577"/>
          </a:xfrm>
          <a:prstGeom prst="roundRect">
            <a:avLst>
              <a:gd name="adj" fmla="val 7669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2883098" y="3332113"/>
            <a:ext cx="1650802" cy="0"/>
          </a:xfrm>
          <a:prstGeom prst="line">
            <a:avLst/>
          </a:prstGeom>
          <a:noFill/>
          <a:ln w="28575">
            <a:solidFill>
              <a:srgbClr val="1A6E7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96080" y="2454325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996080" y="2593925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PID Autopilot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10100" y="2098923"/>
            <a:ext cx="1650802" cy="1247477"/>
          </a:xfrm>
          <a:prstGeom prst="roundRect">
            <a:avLst>
              <a:gd name="adj" fmla="val 6108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610100" y="3332113"/>
            <a:ext cx="1650802" cy="0"/>
          </a:xfrm>
          <a:prstGeom prst="line">
            <a:avLst/>
          </a:prstGeom>
          <a:noFill/>
          <a:ln w="28575">
            <a:solidFill>
              <a:srgbClr val="1A6E7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3081" y="2200424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5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23081" y="2340025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Vessel Robotics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37102" y="1844873"/>
            <a:ext cx="1650802" cy="1501527"/>
          </a:xfrm>
          <a:prstGeom prst="roundRect">
            <a:avLst>
              <a:gd name="adj" fmla="val 5075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337102" y="3332113"/>
            <a:ext cx="1650802" cy="0"/>
          </a:xfrm>
          <a:prstGeom prst="line">
            <a:avLst/>
          </a:prstGeom>
          <a:noFill/>
          <a:ln w="28575">
            <a:solidFill>
              <a:srgbClr val="37DC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50083" y="1946374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7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450083" y="2085975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General Platform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3473351"/>
            <a:ext cx="8229600" cy="622102"/>
          </a:xfrm>
          <a:prstGeom prst="roundRect">
            <a:avLst>
              <a:gd name="adj" fmla="val 12249"/>
            </a:avLst>
          </a:prstGeom>
          <a:solidFill>
            <a:srgbClr val="1E2D42"/>
          </a:solidFill>
          <a:ln w="9525">
            <a:solidFill>
              <a:srgbClr val="2EE8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060930" y="3609826"/>
            <a:ext cx="5179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060930" y="3844677"/>
            <a:ext cx="517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safety fixes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770756" y="3609826"/>
            <a:ext cx="6328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770756" y="3844677"/>
            <a:ext cx="6328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 scenarios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594945" y="3609826"/>
            <a:ext cx="5742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90 deg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94945" y="3844677"/>
            <a:ext cx="5742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step stable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59630" y="3609826"/>
            <a:ext cx="7254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 deg/s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359630" y="3844677"/>
            <a:ext cx="7254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sustained rate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44793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LEARNING PIPELINE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74904" y="1280071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Five algorithms working together after each recording session: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578471"/>
            <a:ext cx="8229600" cy="501402"/>
          </a:xfrm>
          <a:prstGeom prst="roundRect">
            <a:avLst>
              <a:gd name="adj" fmla="val 15197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1488" y="1578471"/>
            <a:ext cx="0" cy="501402"/>
          </a:xfrm>
          <a:prstGeom prst="line">
            <a:avLst/>
          </a:prstGeom>
          <a:noFill/>
          <a:ln w="28575">
            <a:solidFill>
              <a:srgbClr val="1A6E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3476" y="168949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67804" y="175766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69777" y="1679972"/>
            <a:ext cx="31595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Cross-Correlation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69777" y="1845022"/>
            <a:ext cx="31595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changes together?  2,556 sensor pairs, -60s to +60s lag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2156073"/>
            <a:ext cx="8229600" cy="501402"/>
          </a:xfrm>
          <a:prstGeom prst="roundRect">
            <a:avLst>
              <a:gd name="adj" fmla="val 15197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71488" y="2156073"/>
            <a:ext cx="0" cy="501402"/>
          </a:xfrm>
          <a:prstGeom prst="line">
            <a:avLst/>
          </a:prstGeom>
          <a:noFill/>
          <a:ln w="28575">
            <a:solidFill>
              <a:srgbClr val="1A6E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3476" y="226709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67804" y="2335262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69777" y="2257574"/>
            <a:ext cx="34477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Change-Point Detection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69777" y="2422624"/>
            <a:ext cx="3447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 do things shift?  Bayesian algorithm, detects regime changes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2733675"/>
            <a:ext cx="8229600" cy="501402"/>
          </a:xfrm>
          <a:prstGeom prst="roundRect">
            <a:avLst>
              <a:gd name="adj" fmla="val 15197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1488" y="2733675"/>
            <a:ext cx="0" cy="501402"/>
          </a:xfrm>
          <a:prstGeom prst="line">
            <a:avLst/>
          </a:prstGeom>
          <a:noFill/>
          <a:ln w="28575">
            <a:solidFill>
              <a:srgbClr val="1A6E7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3476" y="284470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67804" y="291286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69777" y="2835176"/>
            <a:ext cx="33049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Behavioral Clustering (HDBSCAN)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69777" y="3000226"/>
            <a:ext cx="33049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patterns emerge?  Groups behavior windows automatically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3311277"/>
            <a:ext cx="8229600" cy="501402"/>
          </a:xfrm>
          <a:prstGeom prst="roundRect">
            <a:avLst>
              <a:gd name="adj" fmla="val 15197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1488" y="3311277"/>
            <a:ext cx="0" cy="501402"/>
          </a:xfrm>
          <a:prstGeom prst="line">
            <a:avLst/>
          </a:prstGeom>
          <a:noFill/>
          <a:ln w="28575">
            <a:solidFill>
              <a:srgbClr val="1A6E7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3476" y="342230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67804" y="349046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69777" y="3412778"/>
            <a:ext cx="30893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Temporal Rule Mining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69777" y="3577828"/>
            <a:ext cx="3089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 X happens, do Y?  Recurring event-response patterns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3888879"/>
            <a:ext cx="8229600" cy="501402"/>
          </a:xfrm>
          <a:prstGeom prst="roundRect">
            <a:avLst>
              <a:gd name="adj" fmla="val 15197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71488" y="3888879"/>
            <a:ext cx="0" cy="501402"/>
          </a:xfrm>
          <a:prstGeom prst="line">
            <a:avLst/>
          </a:prstGeom>
          <a:noFill/>
          <a:ln w="28575">
            <a:solidFill>
              <a:srgbClr val="1A6E7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3476" y="399990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67804" y="4068068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69777" y="3990380"/>
            <a:ext cx="2916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Bayesian Reward Inference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69777" y="4155430"/>
            <a:ext cx="2916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humans do what they do?  Infers motivation weights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153330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IT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978075"/>
            <a:ext cx="3987850" cy="793700"/>
          </a:xfrm>
          <a:prstGeom prst="roundRect">
            <a:avLst>
              <a:gd name="adj" fmla="val 9601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71488" y="1978075"/>
            <a:ext cx="0" cy="793700"/>
          </a:xfrm>
          <a:prstGeom prst="line">
            <a:avLst/>
          </a:prstGeom>
          <a:noFill/>
          <a:ln w="28575">
            <a:solidFill>
              <a:srgbClr val="37DC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3476" y="2130475"/>
            <a:ext cx="36759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8: First Demo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3476" y="2333625"/>
            <a:ext cx="36759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LED blinker controlled by chat. User types "blink every 500ms" and it happens.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898725"/>
            <a:ext cx="3987850" cy="793700"/>
          </a:xfrm>
          <a:prstGeom prst="roundRect">
            <a:avLst>
              <a:gd name="adj" fmla="val 9601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71488" y="2898725"/>
            <a:ext cx="0" cy="793700"/>
          </a:xfrm>
          <a:prstGeom prst="line">
            <a:avLst/>
          </a:prstGeom>
          <a:noFill/>
          <a:ln w="28575">
            <a:solidFill>
              <a:srgbClr val="37DC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3476" y="3051125"/>
            <a:ext cx="36759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16: Full Autopilot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3476" y="3254276"/>
            <a:ext cx="36759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Complete marine autopilot with learning pipeline and trust scoring.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98950" y="1573560"/>
            <a:ext cx="3987850" cy="847576"/>
          </a:xfrm>
          <a:prstGeom prst="roundRect">
            <a:avLst>
              <a:gd name="adj" fmla="val 8990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86176" y="1710035"/>
            <a:ext cx="3685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Solo Developer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86176" y="1932236"/>
            <a:ext cx="368566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30-40 weeks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698950" y="2548086"/>
            <a:ext cx="3987850" cy="847576"/>
          </a:xfrm>
          <a:prstGeom prst="roundRect">
            <a:avLst>
              <a:gd name="adj" fmla="val 8990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86176" y="2684562"/>
            <a:ext cx="3685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Developers (parallel)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86176" y="2906762"/>
            <a:ext cx="368566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12-16 weeks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698950" y="3522613"/>
            <a:ext cx="3987850" cy="574477"/>
          </a:xfrm>
          <a:prstGeom prst="roundRect">
            <a:avLst>
              <a:gd name="adj" fmla="val 13264"/>
            </a:avLst>
          </a:prstGeom>
          <a:solidFill>
            <a:srgbClr val="1E2D42"/>
          </a:solidFill>
          <a:ln w="9525">
            <a:solidFill>
              <a:srgbClr val="2EE8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86176" y="3659088"/>
            <a:ext cx="3685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Critical path: weeks 1-8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86176" y="3827264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Wire protocol + VM + safety system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6776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253901"/>
            <a:ext cx="326220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 THE NUMBERS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62595" y="1386036"/>
            <a:ext cx="1809452" cy="873026"/>
          </a:xfrm>
          <a:prstGeom prst="roundRect">
            <a:avLst>
              <a:gd name="adj" fmla="val 11638"/>
            </a:avLst>
          </a:prstGeom>
          <a:solidFill>
            <a:srgbClr val="1E2D42"/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57747" y="1547961"/>
            <a:ext cx="16191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57747" y="1982837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 files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698998" y="1386036"/>
            <a:ext cx="1809452" cy="873026"/>
          </a:xfrm>
          <a:prstGeom prst="roundRect">
            <a:avLst>
              <a:gd name="adj" fmla="val 11638"/>
            </a:avLst>
          </a:prstGeom>
          <a:solidFill>
            <a:srgbClr val="1E2D42"/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794150" y="1547961"/>
            <a:ext cx="16191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19,200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794150" y="1982837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lines of spec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35401" y="1386036"/>
            <a:ext cx="1809452" cy="873026"/>
          </a:xfrm>
          <a:prstGeom prst="roundRect">
            <a:avLst>
              <a:gd name="adj" fmla="val 11638"/>
            </a:avLst>
          </a:prstGeom>
          <a:solidFill>
            <a:srgbClr val="1E2D42"/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730553" y="1547961"/>
            <a:ext cx="16191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730553" y="1982837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 decisions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71804" y="1386036"/>
            <a:ext cx="1809452" cy="873026"/>
          </a:xfrm>
          <a:prstGeom prst="roundRect">
            <a:avLst>
              <a:gd name="adj" fmla="val 11638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66955" y="1547961"/>
            <a:ext cx="16191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666955" y="1982837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VM opcodes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62595" y="2386013"/>
            <a:ext cx="1809452" cy="873026"/>
          </a:xfrm>
          <a:prstGeom prst="roundRect">
            <a:avLst>
              <a:gd name="adj" fmla="val 11638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57747" y="2547938"/>
            <a:ext cx="16191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75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57747" y="2982813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error codes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698998" y="2386013"/>
            <a:ext cx="1809452" cy="873026"/>
          </a:xfrm>
          <a:prstGeom prst="roundRect">
            <a:avLst>
              <a:gd name="adj" fmla="val 11638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794150" y="2547938"/>
            <a:ext cx="16191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2794150" y="2982813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MCUs evaluated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5401" y="2386013"/>
            <a:ext cx="1809452" cy="873026"/>
          </a:xfrm>
          <a:prstGeom prst="roundRect">
            <a:avLst>
              <a:gd name="adj" fmla="val 11638"/>
            </a:avLst>
          </a:prstGeom>
          <a:solidFill>
            <a:srgbClr val="1E2D42"/>
          </a:solidFill>
          <a:ln w="9525">
            <a:solidFill>
              <a:srgbClr val="2EE8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30553" y="2547938"/>
            <a:ext cx="16191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&lt;100us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4730553" y="2982813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reflex cycle time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71804" y="2386013"/>
            <a:ext cx="1809452" cy="873026"/>
          </a:xfrm>
          <a:prstGeom prst="roundRect">
            <a:avLst>
              <a:gd name="adj" fmla="val 11638"/>
            </a:avLst>
          </a:prstGeom>
          <a:solidFill>
            <a:srgbClr val="1E2D42"/>
          </a:solidFill>
          <a:ln w="9525">
            <a:solidFill>
              <a:srgbClr val="FF4D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666955" y="2547938"/>
            <a:ext cx="16191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D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&lt;1ms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6666955" y="2982813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kill switch response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67274" y="3385989"/>
            <a:ext cx="1809452" cy="873026"/>
          </a:xfrm>
          <a:prstGeom prst="roundRect">
            <a:avLst>
              <a:gd name="adj" fmla="val 11638"/>
            </a:avLst>
          </a:prstGeom>
          <a:solidFill>
            <a:srgbClr val="1E2D42"/>
          </a:solidFill>
          <a:ln w="9525">
            <a:solidFill>
              <a:srgbClr val="FF8C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762426" y="3547914"/>
            <a:ext cx="161914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25:1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3762426" y="3982789"/>
            <a:ext cx="1619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trust loss:gain ratio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49634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 DECISIONS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1595884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 total decisions tracked. Highlights with confidence levels: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840260"/>
            <a:ext cx="8229600" cy="501402"/>
          </a:xfrm>
          <a:prstGeom prst="roundRect">
            <a:avLst>
              <a:gd name="adj" fmla="val 15197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1488" y="1840260"/>
            <a:ext cx="0" cy="501402"/>
          </a:xfrm>
          <a:prstGeom prst="line">
            <a:avLst/>
          </a:prstGeom>
          <a:noFill/>
          <a:ln w="28575">
            <a:solidFill>
              <a:srgbClr val="2EE89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8175" y="2017961"/>
            <a:ext cx="636389" cy="145852"/>
          </a:xfrm>
          <a:prstGeom prst="roundRect">
            <a:avLst>
              <a:gd name="adj" fmla="val 34830"/>
            </a:avLst>
          </a:prstGeom>
          <a:solidFill>
            <a:srgbClr val="2EE8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14375" y="2043261"/>
            <a:ext cx="4936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VERY HIGH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401514" y="1941761"/>
            <a:ext cx="19774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RS-422 over WiFi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01514" y="2106811"/>
            <a:ext cx="19774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"Metal hulls kill WiFi. Physics doesn't."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2417862"/>
            <a:ext cx="8229600" cy="501402"/>
          </a:xfrm>
          <a:prstGeom prst="roundRect">
            <a:avLst>
              <a:gd name="adj" fmla="val 15197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71488" y="2417862"/>
            <a:ext cx="0" cy="501402"/>
          </a:xfrm>
          <a:prstGeom prst="line">
            <a:avLst/>
          </a:prstGeom>
          <a:noFill/>
          <a:ln w="28575">
            <a:solidFill>
              <a:srgbClr val="2EE8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175" y="2595563"/>
            <a:ext cx="636389" cy="145852"/>
          </a:xfrm>
          <a:prstGeom prst="roundRect">
            <a:avLst>
              <a:gd name="adj" fmla="val 34830"/>
            </a:avLst>
          </a:prstGeom>
          <a:solidFill>
            <a:srgbClr val="2EE8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14375" y="2620863"/>
            <a:ext cx="4936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VERY HIGH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401514" y="2519363"/>
            <a:ext cx="22895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Separate LLM for Validation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401514" y="2684413"/>
            <a:ext cx="2289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"Same model validating its own code = bias"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2995464"/>
            <a:ext cx="8229600" cy="501402"/>
          </a:xfrm>
          <a:prstGeom prst="roundRect">
            <a:avLst>
              <a:gd name="adj" fmla="val 15197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1488" y="2995464"/>
            <a:ext cx="0" cy="501402"/>
          </a:xfrm>
          <a:prstGeom prst="line">
            <a:avLst/>
          </a:prstGeom>
          <a:noFill/>
          <a:ln w="28575">
            <a:solidFill>
              <a:srgbClr val="37DC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175" y="3173164"/>
            <a:ext cx="374600" cy="145852"/>
          </a:xfrm>
          <a:prstGeom prst="roundRect">
            <a:avLst>
              <a:gd name="adj" fmla="val 34830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14375" y="3198465"/>
            <a:ext cx="2266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139726" y="3096964"/>
            <a:ext cx="2214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Bytecode over JSON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39726" y="3262015"/>
            <a:ext cx="22148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"10x faster. Deterministic. Non-negotiable."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3573066"/>
            <a:ext cx="8229600" cy="501402"/>
          </a:xfrm>
          <a:prstGeom prst="roundRect">
            <a:avLst>
              <a:gd name="adj" fmla="val 15197"/>
            </a:avLst>
          </a:prstGeom>
          <a:solidFill>
            <a:srgbClr val="1E2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1488" y="3573066"/>
            <a:ext cx="0" cy="501402"/>
          </a:xfrm>
          <a:prstGeom prst="line">
            <a:avLst/>
          </a:prstGeom>
          <a:noFill/>
          <a:ln w="28575">
            <a:solidFill>
              <a:srgbClr val="FF8C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8175" y="3750766"/>
            <a:ext cx="359718" cy="145852"/>
          </a:xfrm>
          <a:prstGeom prst="roundRect">
            <a:avLst>
              <a:gd name="adj" fmla="val 34830"/>
            </a:avLst>
          </a:prstGeom>
          <a:solidFill>
            <a:srgbClr val="FF8C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14375" y="3776067"/>
            <a:ext cx="2114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124843" y="3674566"/>
            <a:ext cx="28291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Inverse RL for Reward Inference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24843" y="3839617"/>
            <a:ext cx="28291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"Academic technique. We're honest about uncertainty."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32689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 QUESTIONS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74904" y="1187797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Decisions left for the engineering team: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486198"/>
            <a:ext cx="8229600" cy="653951"/>
          </a:xfrm>
          <a:prstGeom prst="roundRect">
            <a:avLst>
              <a:gd name="adj" fmla="val 11652"/>
            </a:avLst>
          </a:prstGeom>
          <a:solidFill>
            <a:srgbClr val="1E2D42"/>
          </a:solidFill>
          <a:ln w="9525">
            <a:solidFill>
              <a:srgbClr val="FFD9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44426" y="167342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D9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41462" y="1736824"/>
            <a:ext cx="869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6176" y="1622673"/>
            <a:ext cx="18594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OTA Signing Algorithm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76176" y="1775073"/>
            <a:ext cx="920948" cy="228600"/>
          </a:xfrm>
          <a:prstGeom prst="roundRect">
            <a:avLst>
              <a:gd name="adj" fmla="val 22222"/>
            </a:avLst>
          </a:prstGeom>
          <a:solidFill>
            <a:srgbClr val="243A54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187202" y="1822698"/>
            <a:ext cx="712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ECDSA-P256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73325" y="1775073"/>
            <a:ext cx="825847" cy="228600"/>
          </a:xfrm>
          <a:prstGeom prst="roundRect">
            <a:avLst>
              <a:gd name="adj" fmla="val 22222"/>
            </a:avLst>
          </a:prstGeom>
          <a:solidFill>
            <a:srgbClr val="243A54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184350" y="1822698"/>
            <a:ext cx="6158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 Ed25519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2267099"/>
            <a:ext cx="8229600" cy="653951"/>
          </a:xfrm>
          <a:prstGeom prst="roundRect">
            <a:avLst>
              <a:gd name="adj" fmla="val 11652"/>
            </a:avLst>
          </a:prstGeom>
          <a:solidFill>
            <a:srgbClr val="1E2D42"/>
          </a:solidFill>
          <a:ln w="9525">
            <a:solidFill>
              <a:srgbClr val="FFD9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44426" y="245432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D9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41462" y="2517725"/>
            <a:ext cx="869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?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76176" y="2403574"/>
            <a:ext cx="15285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MQTT Broker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76176" y="2555974"/>
            <a:ext cx="717649" cy="228600"/>
          </a:xfrm>
          <a:prstGeom prst="roundRect">
            <a:avLst>
              <a:gd name="adj" fmla="val 22222"/>
            </a:avLst>
          </a:prstGeom>
          <a:solidFill>
            <a:srgbClr val="243A54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187202" y="2603599"/>
            <a:ext cx="505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Mosquitto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870025" y="2555974"/>
            <a:ext cx="704701" cy="228600"/>
          </a:xfrm>
          <a:prstGeom prst="roundRect">
            <a:avLst>
              <a:gd name="adj" fmla="val 22222"/>
            </a:avLst>
          </a:prstGeom>
          <a:solidFill>
            <a:srgbClr val="243A54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981051" y="2603599"/>
            <a:ext cx="4923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 EMQX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3048000"/>
            <a:ext cx="8229600" cy="653951"/>
          </a:xfrm>
          <a:prstGeom prst="roundRect">
            <a:avLst>
              <a:gd name="adj" fmla="val 11652"/>
            </a:avLst>
          </a:prstGeom>
          <a:solidFill>
            <a:srgbClr val="1E2D42"/>
          </a:solidFill>
          <a:ln w="9525">
            <a:solidFill>
              <a:srgbClr val="FFD9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44426" y="323522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D9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41462" y="3298627"/>
            <a:ext cx="869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?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76176" y="3184475"/>
            <a:ext cx="16712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76176" y="3336875"/>
            <a:ext cx="571500" cy="228600"/>
          </a:xfrm>
          <a:prstGeom prst="roundRect">
            <a:avLst>
              <a:gd name="adj" fmla="val 22222"/>
            </a:avLst>
          </a:prstGeom>
          <a:solidFill>
            <a:srgbClr val="243A54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187202" y="3384500"/>
            <a:ext cx="3564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SQLite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23876" y="3336875"/>
            <a:ext cx="990749" cy="228600"/>
          </a:xfrm>
          <a:prstGeom prst="roundRect">
            <a:avLst>
              <a:gd name="adj" fmla="val 22222"/>
            </a:avLst>
          </a:prstGeom>
          <a:solidFill>
            <a:srgbClr val="243A54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834902" y="3384500"/>
            <a:ext cx="784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 PostgreSQL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3828901"/>
            <a:ext cx="8229600" cy="653951"/>
          </a:xfrm>
          <a:prstGeom prst="roundRect">
            <a:avLst>
              <a:gd name="adj" fmla="val 11652"/>
            </a:avLst>
          </a:prstGeom>
          <a:solidFill>
            <a:srgbClr val="1E2D42"/>
          </a:solidFill>
          <a:ln w="9525">
            <a:solidFill>
              <a:srgbClr val="FFD9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44426" y="401612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D9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41462" y="4079528"/>
            <a:ext cx="869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2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?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76176" y="3965377"/>
            <a:ext cx="1710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Which Local LLM Model?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76176" y="4117777"/>
            <a:ext cx="1677293" cy="228600"/>
          </a:xfrm>
          <a:prstGeom prst="roundRect">
            <a:avLst>
              <a:gd name="adj" fmla="val 22222"/>
            </a:avLst>
          </a:prstGeom>
          <a:solidFill>
            <a:srgbClr val="243A54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1187202" y="4165402"/>
            <a:ext cx="14843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Landscape changes monthly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51453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POST-CODING PROMISE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233995" y="1489472"/>
            <a:ext cx="26758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engineers wire hardware.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233995" y="1724323"/>
            <a:ext cx="26758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operators describe intent.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33995" y="1959173"/>
            <a:ext cx="26758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system writes itself.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2823" y="2371874"/>
            <a:ext cx="2457301" cy="1123652"/>
          </a:xfrm>
          <a:prstGeom prst="roundRect">
            <a:avLst>
              <a:gd name="adj" fmla="val 9042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75179" y="2559100"/>
            <a:ext cx="20725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✎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75179" y="2914650"/>
            <a:ext cx="2072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DESCRIBE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75179" y="3174950"/>
            <a:ext cx="2072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Natural language intent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343275" y="2371874"/>
            <a:ext cx="2457301" cy="1123652"/>
          </a:xfrm>
          <a:prstGeom prst="roundRect">
            <a:avLst>
              <a:gd name="adj" fmla="val 9042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35631" y="2559100"/>
            <a:ext cx="20725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▶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535631" y="2914650"/>
            <a:ext cx="2072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DEMONSTRATE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35631" y="3174950"/>
            <a:ext cx="2072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Record desired behavior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03727" y="2371874"/>
            <a:ext cx="2457301" cy="1123652"/>
          </a:xfrm>
          <a:prstGeom prst="roundRect">
            <a:avLst>
              <a:gd name="adj" fmla="val 9042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196082" y="2559100"/>
            <a:ext cx="20725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96082" y="2914650"/>
            <a:ext cx="2072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APPROVE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96082" y="3174950"/>
            <a:ext cx="2072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 or no. That's it.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18333" y="3698677"/>
            <a:ext cx="3907185" cy="482501"/>
          </a:xfrm>
          <a:prstGeom prst="roundRect">
            <a:avLst>
              <a:gd name="adj" fmla="val 15793"/>
            </a:avLst>
          </a:prstGeom>
          <a:solidFill>
            <a:srgbClr val="1E2D42"/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899873" y="3835152"/>
            <a:ext cx="33441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 becomes invisible infrastructure.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nexus_final/slides/accen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7675"/>
            <a:ext cx="381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150" y="304800"/>
            <a:ext cx="253551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GET STARTED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2108299"/>
            <a:ext cx="40676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Everything is specified.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2435275"/>
            <a:ext cx="40676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 production-ready files. Ready for your senior engineer.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733675"/>
            <a:ext cx="3987850" cy="828526"/>
          </a:xfrm>
          <a:prstGeom prst="roundRect">
            <a:avLst>
              <a:gd name="adj" fmla="val 9197"/>
            </a:avLst>
          </a:prstGeom>
          <a:solidFill>
            <a:srgbClr val="1E2D42"/>
          </a:solidFill>
          <a:ln w="9525">
            <a:solidFill>
              <a:srgbClr val="2EE8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4426" y="2895600"/>
            <a:ext cx="3685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E8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Start here: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4426" y="3098750"/>
            <a:ext cx="3685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ARCHITECTURE_DECISION_RECORDS.md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4426" y="3266926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Focus on MEDIUM and LOW confidence decisions first.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98950" y="1830735"/>
            <a:ext cx="3987850" cy="1514029"/>
          </a:xfrm>
          <a:prstGeom prst="roundRect">
            <a:avLst>
              <a:gd name="adj" fmla="val 5033"/>
            </a:avLst>
          </a:prstGeom>
          <a:solidFill>
            <a:srgbClr val="1E2D42"/>
          </a:solidFill>
          <a:ln w="9525">
            <a:solidFill>
              <a:srgbClr val="1A6E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86176" y="1967210"/>
            <a:ext cx="3685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 Specification Files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86176" y="2186285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NEXUS_PLATFORM_OVERVIEW.md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86176" y="2332286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ARCHITECTURE_DECISION_RECORDS.md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86176" y="2478286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FIRMWARE_SPEC.md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86176" y="2624286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VM_SPEC.md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86176" y="2770287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WIRE_PROTOCOL_SPEC.md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86176" y="2916287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SAFETY_SYSTEM_SPEC.md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86176" y="3062288"/>
            <a:ext cx="3685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5566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... and 15 more files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698950" y="3446264"/>
            <a:ext cx="3987850" cy="393502"/>
          </a:xfrm>
          <a:prstGeom prst="roundRect">
            <a:avLst>
              <a:gd name="adj" fmla="val 19365"/>
            </a:avLst>
          </a:prstGeom>
          <a:solidFill>
            <a:srgbClr val="1E2D42"/>
          </a:solidFill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50042" y="3557290"/>
            <a:ext cx="3685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D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~19,200 lines  |  28 decisions  |  Ready to build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Platform - The Post-Coding Intelligence Platform</dc:title>
  <dc:subject>PptxGenJS Presentation</dc:subject>
  <dc:creator>NEXUS Architecture Team</dc:creator>
  <cp:lastModifiedBy>NEXUS Architecture Team</cp:lastModifiedBy>
  <cp:revision>1</cp:revision>
  <dcterms:created xsi:type="dcterms:W3CDTF">2026-03-29T07:02:48Z</dcterms:created>
  <dcterms:modified xsi:type="dcterms:W3CDTF">2026-03-29T07:02:48Z</dcterms:modified>
</cp:coreProperties>
</file>